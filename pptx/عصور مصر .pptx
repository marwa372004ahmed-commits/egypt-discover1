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rata" charset="1" panose="00000500000000000000"/>
      <p:regular r:id="rId19"/>
    </p:embeddedFont>
    <p:embeddedFont>
      <p:font typeface="Raleway" charset="1" panose="00000000000000000000"/>
      <p:regular r:id="rId20"/>
    </p:embeddedFont>
    <p:embeddedFont>
      <p:font typeface="Raleway Bold"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10553"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8114709" y="3955409"/>
            <a:ext cx="9181062" cy="794147"/>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مصر عبر العصور: رحلة في قلب التاريخ</a:t>
            </a:r>
          </a:p>
        </p:txBody>
      </p:sp>
      <p:sp>
        <p:nvSpPr>
          <p:cNvPr name="TextBox 9" id="9"/>
          <p:cNvSpPr txBox="true"/>
          <p:nvPr/>
        </p:nvSpPr>
        <p:spPr>
          <a:xfrm rot="0">
            <a:off x="7850238" y="5035896"/>
            <a:ext cx="9445523"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تعد مصر من أقدم الحضارات في العالم، حيث تمتد جذورها لآلاف السنين، شاهدة على تعاقب الحضارات والثقافات التي تركت بصماتها الخالدة على أرضها. من الفراعنة العظام إلى العصور الحديثة، نسافر عبر الزمن لنستكشف المحطات الرئيسية في تاريخ هذا البلد العريق.</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6049015" y="9686925"/>
            <a:ext cx="2153260" cy="514350"/>
            <a:chOff x="0" y="0"/>
            <a:chExt cx="2871013" cy="685800"/>
          </a:xfrm>
        </p:grpSpPr>
        <p:sp>
          <p:nvSpPr>
            <p:cNvPr name="Freeform 5" id="5"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sp>
        <p:nvSpPr>
          <p:cNvPr name="TextBox 8" id="8"/>
          <p:cNvSpPr txBox="true"/>
          <p:nvPr/>
        </p:nvSpPr>
        <p:spPr>
          <a:xfrm rot="0">
            <a:off x="5098552" y="1796653"/>
            <a:ext cx="12342314" cy="690410"/>
          </a:xfrm>
          <a:prstGeom prst="rect">
            <a:avLst/>
          </a:prstGeom>
        </p:spPr>
        <p:txBody>
          <a:bodyPr anchor="t" rtlCol="false" tIns="0" lIns="0" bIns="0" rIns="0">
            <a:spAutoFit/>
          </a:bodyPr>
          <a:lstStyle/>
          <a:p>
            <a:pPr algn="r" rtl="true">
              <a:lnSpc>
                <a:spcPts val="5187"/>
              </a:lnSpc>
            </a:pPr>
            <a:r>
              <a:rPr lang="ar-EG" sz="4124">
                <a:solidFill>
                  <a:srgbClr val="F2E782"/>
                </a:solidFill>
                <a:latin typeface="Prata"/>
                <a:ea typeface="Prata"/>
                <a:cs typeface="Prata"/>
                <a:sym typeface="Prata"/>
                <a:rtl val="true"/>
              </a:rPr>
              <a:t>العصر الفرعوني: بناة الحضارة (حوالي </a:t>
            </a:r>
            <a:r>
              <a:rPr lang="en-US" sz="4124">
                <a:solidFill>
                  <a:srgbClr val="F2E782"/>
                </a:solidFill>
                <a:latin typeface="Prata"/>
                <a:ea typeface="Prata"/>
                <a:cs typeface="Prata"/>
                <a:sym typeface="Prata"/>
              </a:rPr>
              <a:t>3100</a:t>
            </a:r>
            <a:r>
              <a:rPr lang="ar-EG" sz="4124">
                <a:solidFill>
                  <a:srgbClr val="F2E782"/>
                </a:solidFill>
                <a:latin typeface="Prata"/>
                <a:ea typeface="Prata"/>
                <a:cs typeface="Prata"/>
                <a:sym typeface="Prata"/>
                <a:rtl val="true"/>
              </a:rPr>
              <a:t> ق.م – </a:t>
            </a:r>
            <a:r>
              <a:rPr lang="en-US" sz="4124">
                <a:solidFill>
                  <a:srgbClr val="F2E782"/>
                </a:solidFill>
                <a:latin typeface="Prata"/>
                <a:ea typeface="Prata"/>
                <a:cs typeface="Prata"/>
                <a:sym typeface="Prata"/>
              </a:rPr>
              <a:t>332</a:t>
            </a:r>
            <a:r>
              <a:rPr lang="ar-EG" sz="4124">
                <a:solidFill>
                  <a:srgbClr val="F2E782"/>
                </a:solidFill>
                <a:latin typeface="Prata"/>
                <a:ea typeface="Prata"/>
                <a:cs typeface="Prata"/>
                <a:sym typeface="Prata"/>
                <a:rtl val="true"/>
              </a:rPr>
              <a:t> ق.م)</a:t>
            </a:r>
          </a:p>
        </p:txBody>
      </p:sp>
      <p:grpSp>
        <p:nvGrpSpPr>
          <p:cNvPr name="Group 9" id="9"/>
          <p:cNvGrpSpPr/>
          <p:nvPr/>
        </p:nvGrpSpPr>
        <p:grpSpPr>
          <a:xfrm rot="0">
            <a:off x="15451484" y="2848718"/>
            <a:ext cx="1989382" cy="1989382"/>
            <a:chOff x="0" y="0"/>
            <a:chExt cx="2652509" cy="2652509"/>
          </a:xfrm>
        </p:grpSpPr>
        <p:sp>
          <p:nvSpPr>
            <p:cNvPr name="Freeform 10" id="10" descr="preencoded.png"/>
            <p:cNvSpPr/>
            <p:nvPr/>
          </p:nvSpPr>
          <p:spPr>
            <a:xfrm flipH="false" flipV="false" rot="0">
              <a:off x="0" y="0"/>
              <a:ext cx="2652522" cy="2652522"/>
            </a:xfrm>
            <a:custGeom>
              <a:avLst/>
              <a:gdLst/>
              <a:ahLst/>
              <a:cxnLst/>
              <a:rect r="r" b="b" t="t" l="l"/>
              <a:pathLst>
                <a:path h="2652522" w="2652522">
                  <a:moveTo>
                    <a:pt x="0" y="0"/>
                  </a:moveTo>
                  <a:lnTo>
                    <a:pt x="2652522" y="0"/>
                  </a:lnTo>
                  <a:lnTo>
                    <a:pt x="2652522" y="2652522"/>
                  </a:lnTo>
                  <a:lnTo>
                    <a:pt x="0" y="2652522"/>
                  </a:lnTo>
                  <a:lnTo>
                    <a:pt x="0" y="0"/>
                  </a:lnTo>
                  <a:close/>
                </a:path>
              </a:pathLst>
            </a:custGeom>
            <a:blipFill>
              <a:blip r:embed="rId6"/>
              <a:stretch>
                <a:fillRect l="0" t="0" r="0" b="0"/>
              </a:stretch>
            </a:blipFill>
          </p:spPr>
        </p:sp>
      </p:grpSp>
      <p:sp>
        <p:nvSpPr>
          <p:cNvPr name="TextBox 11" id="11"/>
          <p:cNvSpPr txBox="true"/>
          <p:nvPr/>
        </p:nvSpPr>
        <p:spPr>
          <a:xfrm rot="0">
            <a:off x="13461949" y="2839193"/>
            <a:ext cx="1808712" cy="803672"/>
          </a:xfrm>
          <a:prstGeom prst="rect">
            <a:avLst/>
          </a:prstGeom>
        </p:spPr>
        <p:txBody>
          <a:bodyPr anchor="t" rtlCol="false" tIns="0" lIns="0" bIns="0" rIns="0">
            <a:spAutoFit/>
          </a:bodyPr>
          <a:lstStyle/>
          <a:p>
            <a:pPr algn="r" rtl="true">
              <a:lnSpc>
                <a:spcPts val="3124"/>
              </a:lnSpc>
            </a:pPr>
            <a:r>
              <a:rPr lang="ar-EG" sz="2499">
                <a:solidFill>
                  <a:srgbClr val="CFCBBF"/>
                </a:solidFill>
                <a:latin typeface="Prata"/>
                <a:ea typeface="Prata"/>
                <a:cs typeface="Prata"/>
                <a:sym typeface="Prata"/>
                <a:rtl val="true"/>
              </a:rPr>
              <a:t>عصر الدولة القديمة</a:t>
            </a:r>
          </a:p>
        </p:txBody>
      </p:sp>
      <p:sp>
        <p:nvSpPr>
          <p:cNvPr name="TextBox 12" id="12"/>
          <p:cNvSpPr txBox="true"/>
          <p:nvPr/>
        </p:nvSpPr>
        <p:spPr>
          <a:xfrm rot="0">
            <a:off x="13461949" y="3694214"/>
            <a:ext cx="1808712" cy="4767558"/>
          </a:xfrm>
          <a:prstGeom prst="rect">
            <a:avLst/>
          </a:prstGeom>
        </p:spPr>
        <p:txBody>
          <a:bodyPr anchor="t" rtlCol="false" tIns="0" lIns="0" bIns="0" rIns="0">
            <a:spAutoFit/>
          </a:bodyPr>
          <a:lstStyle/>
          <a:p>
            <a:pPr algn="r" rtl="true">
              <a:lnSpc>
                <a:spcPts val="2437"/>
              </a:lnSpc>
            </a:pPr>
            <a:r>
              <a:rPr lang="ar-EG" sz="1625">
                <a:solidFill>
                  <a:srgbClr val="CFCBBF"/>
                </a:solidFill>
                <a:latin typeface="Raleway"/>
                <a:ea typeface="Raleway"/>
                <a:cs typeface="Raleway"/>
                <a:sym typeface="Raleway"/>
                <a:rtl val="true"/>
              </a:rPr>
              <a:t>يُعرف هذا العصر بعصر بناة الأهرامات، حيث شهدت مصر تشييد أضخم وأعظم المعالم الأثرية في التاريخ، مثل أهرامات خوفو وخفرع ومنقرع. كانت هذه الفترة تتسم بالاستقرار السياسي والازدهار الاقتصادي، مما سمح بتوجيه الموارد نحو المشاريع الضخمة التي تعكس قوة الدولة وعقيدتها الدينية.</a:t>
            </a:r>
          </a:p>
        </p:txBody>
      </p:sp>
      <p:grpSp>
        <p:nvGrpSpPr>
          <p:cNvPr name="Group 13" id="13"/>
          <p:cNvGrpSpPr/>
          <p:nvPr/>
        </p:nvGrpSpPr>
        <p:grpSpPr>
          <a:xfrm rot="0">
            <a:off x="11246491" y="2848718"/>
            <a:ext cx="1989534" cy="1989534"/>
            <a:chOff x="0" y="0"/>
            <a:chExt cx="2652712" cy="2652712"/>
          </a:xfrm>
        </p:grpSpPr>
        <p:sp>
          <p:nvSpPr>
            <p:cNvPr name="Freeform 14" id="14" descr="preencoded.png"/>
            <p:cNvSpPr/>
            <p:nvPr/>
          </p:nvSpPr>
          <p:spPr>
            <a:xfrm flipH="false" flipV="false" rot="0">
              <a:off x="0" y="0"/>
              <a:ext cx="2652776" cy="2652776"/>
            </a:xfrm>
            <a:custGeom>
              <a:avLst/>
              <a:gdLst/>
              <a:ahLst/>
              <a:cxnLst/>
              <a:rect r="r" b="b" t="t" l="l"/>
              <a:pathLst>
                <a:path h="2652776" w="2652776">
                  <a:moveTo>
                    <a:pt x="0" y="0"/>
                  </a:moveTo>
                  <a:lnTo>
                    <a:pt x="2652776" y="0"/>
                  </a:lnTo>
                  <a:lnTo>
                    <a:pt x="2652776" y="2652776"/>
                  </a:lnTo>
                  <a:lnTo>
                    <a:pt x="0" y="2652776"/>
                  </a:lnTo>
                  <a:lnTo>
                    <a:pt x="0" y="0"/>
                  </a:lnTo>
                  <a:close/>
                </a:path>
              </a:pathLst>
            </a:custGeom>
            <a:blipFill>
              <a:blip r:embed="rId7"/>
              <a:stretch>
                <a:fillRect l="0" t="0" r="2" b="2"/>
              </a:stretch>
            </a:blipFill>
          </p:spPr>
        </p:sp>
      </p:grpSp>
      <p:sp>
        <p:nvSpPr>
          <p:cNvPr name="TextBox 15" id="15"/>
          <p:cNvSpPr txBox="true"/>
          <p:nvPr/>
        </p:nvSpPr>
        <p:spPr>
          <a:xfrm rot="0">
            <a:off x="9256957" y="2839193"/>
            <a:ext cx="1808712" cy="406603"/>
          </a:xfrm>
          <a:prstGeom prst="rect">
            <a:avLst/>
          </a:prstGeom>
        </p:spPr>
        <p:txBody>
          <a:bodyPr anchor="t" rtlCol="false" tIns="0" lIns="0" bIns="0" rIns="0">
            <a:spAutoFit/>
          </a:bodyPr>
          <a:lstStyle/>
          <a:p>
            <a:pPr algn="r" rtl="true">
              <a:lnSpc>
                <a:spcPts val="3124"/>
              </a:lnSpc>
            </a:pPr>
            <a:r>
              <a:rPr lang="ar-EG" sz="2499">
                <a:solidFill>
                  <a:srgbClr val="CFCBBF"/>
                </a:solidFill>
                <a:latin typeface="Prata"/>
                <a:ea typeface="Prata"/>
                <a:cs typeface="Prata"/>
                <a:sym typeface="Prata"/>
                <a:rtl val="true"/>
              </a:rPr>
              <a:t>الدولة الوسطى</a:t>
            </a:r>
          </a:p>
        </p:txBody>
      </p:sp>
      <p:sp>
        <p:nvSpPr>
          <p:cNvPr name="TextBox 16" id="16"/>
          <p:cNvSpPr txBox="true"/>
          <p:nvPr/>
        </p:nvSpPr>
        <p:spPr>
          <a:xfrm rot="0">
            <a:off x="9256957" y="3297136"/>
            <a:ext cx="1808712" cy="4453528"/>
          </a:xfrm>
          <a:prstGeom prst="rect">
            <a:avLst/>
          </a:prstGeom>
        </p:spPr>
        <p:txBody>
          <a:bodyPr anchor="t" rtlCol="false" tIns="0" lIns="0" bIns="0" rIns="0">
            <a:spAutoFit/>
          </a:bodyPr>
          <a:lstStyle/>
          <a:p>
            <a:pPr algn="r" rtl="true">
              <a:lnSpc>
                <a:spcPts val="2437"/>
              </a:lnSpc>
            </a:pPr>
            <a:r>
              <a:rPr lang="ar-EG" sz="1625">
                <a:solidFill>
                  <a:srgbClr val="CFCBBF"/>
                </a:solidFill>
                <a:latin typeface="Raleway"/>
                <a:ea typeface="Raleway"/>
                <a:cs typeface="Raleway"/>
                <a:sym typeface="Raleway"/>
                <a:rtl val="true"/>
              </a:rPr>
              <a:t>شهدت هذه الفترة نهضة قوية في الفنون والزراعة، حيث اهتم الحكام بتطوير البنية التحتية الزراعية، مما أدى إلى زيادة الإنتاج وتحسين مستوى معيشة السكان. كما ازدهرت الفنون والآداب، وظهرت أعمال فنية رائعة تعكس تطور الذوق الجمالي للمصريين القدماء.</a:t>
            </a:r>
          </a:p>
        </p:txBody>
      </p:sp>
      <p:grpSp>
        <p:nvGrpSpPr>
          <p:cNvPr name="Group 17" id="17"/>
          <p:cNvGrpSpPr/>
          <p:nvPr/>
        </p:nvGrpSpPr>
        <p:grpSpPr>
          <a:xfrm rot="0">
            <a:off x="7041652" y="2848718"/>
            <a:ext cx="1989382" cy="1989382"/>
            <a:chOff x="0" y="0"/>
            <a:chExt cx="2652509" cy="2652509"/>
          </a:xfrm>
        </p:grpSpPr>
        <p:sp>
          <p:nvSpPr>
            <p:cNvPr name="Freeform 18" id="18" descr="preencoded.png"/>
            <p:cNvSpPr/>
            <p:nvPr/>
          </p:nvSpPr>
          <p:spPr>
            <a:xfrm flipH="false" flipV="false" rot="0">
              <a:off x="0" y="0"/>
              <a:ext cx="2652522" cy="2652522"/>
            </a:xfrm>
            <a:custGeom>
              <a:avLst/>
              <a:gdLst/>
              <a:ahLst/>
              <a:cxnLst/>
              <a:rect r="r" b="b" t="t" l="l"/>
              <a:pathLst>
                <a:path h="2652522" w="2652522">
                  <a:moveTo>
                    <a:pt x="0" y="0"/>
                  </a:moveTo>
                  <a:lnTo>
                    <a:pt x="2652522" y="0"/>
                  </a:lnTo>
                  <a:lnTo>
                    <a:pt x="2652522" y="2652522"/>
                  </a:lnTo>
                  <a:lnTo>
                    <a:pt x="0" y="2652522"/>
                  </a:lnTo>
                  <a:lnTo>
                    <a:pt x="0" y="0"/>
                  </a:lnTo>
                  <a:close/>
                </a:path>
              </a:pathLst>
            </a:custGeom>
            <a:blipFill>
              <a:blip r:embed="rId8"/>
              <a:stretch>
                <a:fillRect l="0" t="0" r="0" b="0"/>
              </a:stretch>
            </a:blipFill>
          </p:spPr>
        </p:sp>
      </p:grpSp>
      <p:sp>
        <p:nvSpPr>
          <p:cNvPr name="TextBox 19" id="19"/>
          <p:cNvSpPr txBox="true"/>
          <p:nvPr/>
        </p:nvSpPr>
        <p:spPr>
          <a:xfrm rot="0">
            <a:off x="5052117" y="2839193"/>
            <a:ext cx="1808712" cy="406603"/>
          </a:xfrm>
          <a:prstGeom prst="rect">
            <a:avLst/>
          </a:prstGeom>
        </p:spPr>
        <p:txBody>
          <a:bodyPr anchor="t" rtlCol="false" tIns="0" lIns="0" bIns="0" rIns="0">
            <a:spAutoFit/>
          </a:bodyPr>
          <a:lstStyle/>
          <a:p>
            <a:pPr algn="r" rtl="true">
              <a:lnSpc>
                <a:spcPts val="3124"/>
              </a:lnSpc>
            </a:pPr>
            <a:r>
              <a:rPr lang="ar-EG" sz="2499">
                <a:solidFill>
                  <a:srgbClr val="CFCBBF"/>
                </a:solidFill>
                <a:latin typeface="Prata"/>
                <a:ea typeface="Prata"/>
                <a:cs typeface="Prata"/>
                <a:sym typeface="Prata"/>
                <a:rtl val="true"/>
              </a:rPr>
              <a:t>الدولة الحديثة</a:t>
            </a:r>
          </a:p>
        </p:txBody>
      </p:sp>
      <p:sp>
        <p:nvSpPr>
          <p:cNvPr name="TextBox 20" id="20"/>
          <p:cNvSpPr txBox="true"/>
          <p:nvPr/>
        </p:nvSpPr>
        <p:spPr>
          <a:xfrm rot="0">
            <a:off x="5052117" y="3297136"/>
            <a:ext cx="1808712" cy="3825478"/>
          </a:xfrm>
          <a:prstGeom prst="rect">
            <a:avLst/>
          </a:prstGeom>
        </p:spPr>
        <p:txBody>
          <a:bodyPr anchor="t" rtlCol="false" tIns="0" lIns="0" bIns="0" rIns="0">
            <a:spAutoFit/>
          </a:bodyPr>
          <a:lstStyle/>
          <a:p>
            <a:pPr algn="r" rtl="true">
              <a:lnSpc>
                <a:spcPts val="2437"/>
              </a:lnSpc>
            </a:pPr>
            <a:r>
              <a:rPr lang="ar-EG" sz="1625">
                <a:solidFill>
                  <a:srgbClr val="CFCBBF"/>
                </a:solidFill>
                <a:latin typeface="Raleway"/>
                <a:ea typeface="Raleway"/>
                <a:cs typeface="Raleway"/>
                <a:sym typeface="Raleway"/>
                <a:rtl val="true"/>
              </a:rPr>
              <a:t>تُعتبر هذه الفترة أقوى فترات مصر الفرعونية، حيث شهدت توسعًا إمبراطوريًا كبيرًا وقوة عسكرية لا مثيل لها. حكمها فراعنة عظماء مثل تحتمس الثالث، حتشبسوت، رمسيس الثاني، وأخناتون، الذين تركوا إرثًا ثقافيًا ومعماريًا هائلاً.</a:t>
            </a:r>
          </a:p>
        </p:txBody>
      </p:sp>
      <p:grpSp>
        <p:nvGrpSpPr>
          <p:cNvPr name="Group 21" id="21"/>
          <p:cNvGrpSpPr/>
          <p:nvPr/>
        </p:nvGrpSpPr>
        <p:grpSpPr>
          <a:xfrm rot="0">
            <a:off x="2836659" y="2848718"/>
            <a:ext cx="1989534" cy="1989534"/>
            <a:chOff x="0" y="0"/>
            <a:chExt cx="2652712" cy="2652712"/>
          </a:xfrm>
        </p:grpSpPr>
        <p:sp>
          <p:nvSpPr>
            <p:cNvPr name="Freeform 22" id="22" descr="preencoded.png"/>
            <p:cNvSpPr/>
            <p:nvPr/>
          </p:nvSpPr>
          <p:spPr>
            <a:xfrm flipH="false" flipV="false" rot="0">
              <a:off x="0" y="0"/>
              <a:ext cx="2652776" cy="2652776"/>
            </a:xfrm>
            <a:custGeom>
              <a:avLst/>
              <a:gdLst/>
              <a:ahLst/>
              <a:cxnLst/>
              <a:rect r="r" b="b" t="t" l="l"/>
              <a:pathLst>
                <a:path h="2652776" w="2652776">
                  <a:moveTo>
                    <a:pt x="0" y="0"/>
                  </a:moveTo>
                  <a:lnTo>
                    <a:pt x="2652776" y="0"/>
                  </a:lnTo>
                  <a:lnTo>
                    <a:pt x="2652776" y="2652776"/>
                  </a:lnTo>
                  <a:lnTo>
                    <a:pt x="0" y="2652776"/>
                  </a:lnTo>
                  <a:lnTo>
                    <a:pt x="0" y="0"/>
                  </a:lnTo>
                  <a:close/>
                </a:path>
              </a:pathLst>
            </a:custGeom>
            <a:blipFill>
              <a:blip r:embed="rId9"/>
              <a:stretch>
                <a:fillRect l="0" t="0" r="2" b="2"/>
              </a:stretch>
            </a:blipFill>
          </p:spPr>
        </p:sp>
      </p:grpSp>
      <p:sp>
        <p:nvSpPr>
          <p:cNvPr name="TextBox 23" id="23"/>
          <p:cNvSpPr txBox="true"/>
          <p:nvPr/>
        </p:nvSpPr>
        <p:spPr>
          <a:xfrm rot="0">
            <a:off x="847134" y="2839193"/>
            <a:ext cx="1808712" cy="803672"/>
          </a:xfrm>
          <a:prstGeom prst="rect">
            <a:avLst/>
          </a:prstGeom>
        </p:spPr>
        <p:txBody>
          <a:bodyPr anchor="t" rtlCol="false" tIns="0" lIns="0" bIns="0" rIns="0">
            <a:spAutoFit/>
          </a:bodyPr>
          <a:lstStyle/>
          <a:p>
            <a:pPr algn="r" rtl="true">
              <a:lnSpc>
                <a:spcPts val="3124"/>
              </a:lnSpc>
            </a:pPr>
            <a:r>
              <a:rPr lang="ar-EG" sz="2499">
                <a:solidFill>
                  <a:srgbClr val="CFCBBF"/>
                </a:solidFill>
                <a:latin typeface="Prata"/>
                <a:ea typeface="Prata"/>
                <a:cs typeface="Prata"/>
                <a:sym typeface="Prata"/>
                <a:rtl val="true"/>
              </a:rPr>
              <a:t>العصور المتأخرة</a:t>
            </a:r>
          </a:p>
        </p:txBody>
      </p:sp>
      <p:sp>
        <p:nvSpPr>
          <p:cNvPr name="TextBox 24" id="24"/>
          <p:cNvSpPr txBox="true"/>
          <p:nvPr/>
        </p:nvSpPr>
        <p:spPr>
          <a:xfrm rot="0">
            <a:off x="847134" y="3694214"/>
            <a:ext cx="1808712" cy="2883398"/>
          </a:xfrm>
          <a:prstGeom prst="rect">
            <a:avLst/>
          </a:prstGeom>
        </p:spPr>
        <p:txBody>
          <a:bodyPr anchor="t" rtlCol="false" tIns="0" lIns="0" bIns="0" rIns="0">
            <a:spAutoFit/>
          </a:bodyPr>
          <a:lstStyle/>
          <a:p>
            <a:pPr algn="r" rtl="true">
              <a:lnSpc>
                <a:spcPts val="2437"/>
              </a:lnSpc>
            </a:pPr>
            <a:r>
              <a:rPr lang="ar-EG" sz="1625">
                <a:solidFill>
                  <a:srgbClr val="CFCBBF"/>
                </a:solidFill>
                <a:latin typeface="Raleway"/>
                <a:ea typeface="Raleway"/>
                <a:cs typeface="Raleway"/>
                <a:sym typeface="Raleway"/>
                <a:rtl val="true"/>
              </a:rPr>
              <a:t>اتسمت هذه العصور بالضعف السياسي وتزايد نفوذ الغزاة الأجانب مثل الليبيين والنوبيين والفرس، مما أدى إلى تدهور تدريجي في قوة الدولة وسيطرتها على أراضيها.</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6049015" y="9686925"/>
            <a:ext cx="2153260" cy="514350"/>
            <a:chOff x="0" y="0"/>
            <a:chExt cx="2871013" cy="685800"/>
          </a:xfrm>
        </p:grpSpPr>
        <p:sp>
          <p:nvSpPr>
            <p:cNvPr name="Freeform 5" id="5"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sp>
        <p:nvSpPr>
          <p:cNvPr name="TextBox 8" id="8"/>
          <p:cNvSpPr txBox="true"/>
          <p:nvPr/>
        </p:nvSpPr>
        <p:spPr>
          <a:xfrm rot="0">
            <a:off x="7769866" y="1129903"/>
            <a:ext cx="9525895" cy="794147"/>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مصر بعد الفراعنة: حقبة اليونان والرومان</a:t>
            </a:r>
          </a:p>
        </p:txBody>
      </p:sp>
      <p:grpSp>
        <p:nvGrpSpPr>
          <p:cNvPr name="Group 9" id="9"/>
          <p:cNvGrpSpPr/>
          <p:nvPr/>
        </p:nvGrpSpPr>
        <p:grpSpPr>
          <a:xfrm rot="0">
            <a:off x="11625110" y="2575169"/>
            <a:ext cx="5670652" cy="2984449"/>
            <a:chOff x="0" y="0"/>
            <a:chExt cx="7560869" cy="3979266"/>
          </a:xfrm>
        </p:grpSpPr>
        <p:sp>
          <p:nvSpPr>
            <p:cNvPr name="Freeform 10" id="10" descr="preencoded.png"/>
            <p:cNvSpPr/>
            <p:nvPr/>
          </p:nvSpPr>
          <p:spPr>
            <a:xfrm flipH="false" flipV="false" rot="0">
              <a:off x="0" y="0"/>
              <a:ext cx="7560818" cy="3979291"/>
            </a:xfrm>
            <a:custGeom>
              <a:avLst/>
              <a:gdLst/>
              <a:ahLst/>
              <a:cxnLst/>
              <a:rect r="r" b="b" t="t" l="l"/>
              <a:pathLst>
                <a:path h="3979291" w="7560818">
                  <a:moveTo>
                    <a:pt x="0" y="0"/>
                  </a:moveTo>
                  <a:lnTo>
                    <a:pt x="7560818" y="0"/>
                  </a:lnTo>
                  <a:lnTo>
                    <a:pt x="7560818" y="3979291"/>
                  </a:lnTo>
                  <a:lnTo>
                    <a:pt x="0" y="3979291"/>
                  </a:lnTo>
                  <a:lnTo>
                    <a:pt x="0" y="0"/>
                  </a:lnTo>
                  <a:close/>
                </a:path>
              </a:pathLst>
            </a:custGeom>
            <a:blipFill>
              <a:blip r:embed="rId6"/>
              <a:stretch>
                <a:fillRect l="-23" t="0" r="-24" b="0"/>
              </a:stretch>
            </a:blipFill>
          </p:spPr>
        </p:sp>
      </p:grpSp>
      <p:sp>
        <p:nvSpPr>
          <p:cNvPr name="TextBox 11" id="11"/>
          <p:cNvSpPr txBox="true"/>
          <p:nvPr/>
        </p:nvSpPr>
        <p:spPr>
          <a:xfrm rot="0">
            <a:off x="9446571" y="5819623"/>
            <a:ext cx="7849191" cy="1259386"/>
          </a:xfrm>
          <a:prstGeom prst="rect">
            <a:avLst/>
          </a:prstGeom>
        </p:spPr>
        <p:txBody>
          <a:bodyPr anchor="t" rtlCol="false" tIns="0" lIns="0" bIns="0" rIns="0">
            <a:spAutoFit/>
          </a:bodyPr>
          <a:lstStyle/>
          <a:p>
            <a:pPr algn="r" rtl="true">
              <a:lnSpc>
                <a:spcPts val="4875"/>
              </a:lnSpc>
            </a:pPr>
            <a:r>
              <a:rPr lang="ar-EG" sz="3875">
                <a:solidFill>
                  <a:srgbClr val="F2E782"/>
                </a:solidFill>
                <a:latin typeface="Prata"/>
                <a:ea typeface="Prata"/>
                <a:cs typeface="Prata"/>
                <a:sym typeface="Prata"/>
                <a:rtl val="true"/>
              </a:rPr>
              <a:t>العصر اليوناني / البطلمي (</a:t>
            </a:r>
            <a:r>
              <a:rPr lang="en-US" sz="3875">
                <a:solidFill>
                  <a:srgbClr val="F2E782"/>
                </a:solidFill>
                <a:latin typeface="Prata"/>
                <a:ea typeface="Prata"/>
                <a:cs typeface="Prata"/>
                <a:sym typeface="Prata"/>
              </a:rPr>
              <a:t>332</a:t>
            </a:r>
            <a:r>
              <a:rPr lang="ar-EG" sz="3875">
                <a:solidFill>
                  <a:srgbClr val="F2E782"/>
                </a:solidFill>
                <a:latin typeface="Prata"/>
                <a:ea typeface="Prata"/>
                <a:cs typeface="Prata"/>
                <a:sym typeface="Prata"/>
                <a:rtl val="true"/>
              </a:rPr>
              <a:t> ق.م – </a:t>
            </a:r>
            <a:r>
              <a:rPr lang="en-US" sz="3875">
                <a:solidFill>
                  <a:srgbClr val="F2E782"/>
                </a:solidFill>
                <a:latin typeface="Prata"/>
                <a:ea typeface="Prata"/>
                <a:cs typeface="Prata"/>
                <a:sym typeface="Prata"/>
              </a:rPr>
              <a:t>30</a:t>
            </a:r>
            <a:r>
              <a:rPr lang="ar-EG" sz="3875">
                <a:solidFill>
                  <a:srgbClr val="F2E782"/>
                </a:solidFill>
                <a:latin typeface="Prata"/>
                <a:ea typeface="Prata"/>
                <a:cs typeface="Prata"/>
                <a:sym typeface="Prata"/>
                <a:rtl val="true"/>
              </a:rPr>
              <a:t> ق.م)</a:t>
            </a:r>
          </a:p>
        </p:txBody>
      </p:sp>
      <p:sp>
        <p:nvSpPr>
          <p:cNvPr name="TextBox 12" id="12"/>
          <p:cNvSpPr txBox="true"/>
          <p:nvPr/>
        </p:nvSpPr>
        <p:spPr>
          <a:xfrm rot="0">
            <a:off x="9446571" y="7241229"/>
            <a:ext cx="7849191" cy="1673428"/>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بدأ هذا العصر مع دخول الإسكندر الأكبر إلى مصر، وتأسيسه لمدينة الإسكندرية. حكمت مصر خلال هذه الفترة أسرة البطالمة، التي شهدت ازدهارًا علميًا وثقافيًا كبيرًا، خاصة مع بناء مكتبة الإسكندرية الشهيرة. انتهى هذا العصر بسقوط كليوباترا السابعة وسيطرة الرومان على مصر.</a:t>
            </a:r>
          </a:p>
        </p:txBody>
      </p:sp>
      <p:grpSp>
        <p:nvGrpSpPr>
          <p:cNvPr name="Group 13" id="13"/>
          <p:cNvGrpSpPr/>
          <p:nvPr/>
        </p:nvGrpSpPr>
        <p:grpSpPr>
          <a:xfrm rot="0">
            <a:off x="2916288" y="2575169"/>
            <a:ext cx="5915616" cy="3375717"/>
            <a:chOff x="0" y="0"/>
            <a:chExt cx="7887487" cy="4500956"/>
          </a:xfrm>
        </p:grpSpPr>
        <p:sp>
          <p:nvSpPr>
            <p:cNvPr name="Freeform 14" id="14" descr="preencoded.png"/>
            <p:cNvSpPr/>
            <p:nvPr/>
          </p:nvSpPr>
          <p:spPr>
            <a:xfrm flipH="false" flipV="false" rot="0">
              <a:off x="0" y="0"/>
              <a:ext cx="7887462" cy="4501007"/>
            </a:xfrm>
            <a:custGeom>
              <a:avLst/>
              <a:gdLst/>
              <a:ahLst/>
              <a:cxnLst/>
              <a:rect r="r" b="b" t="t" l="l"/>
              <a:pathLst>
                <a:path h="4501007" w="7887462">
                  <a:moveTo>
                    <a:pt x="0" y="0"/>
                  </a:moveTo>
                  <a:lnTo>
                    <a:pt x="7887462" y="0"/>
                  </a:lnTo>
                  <a:lnTo>
                    <a:pt x="7887462" y="4501007"/>
                  </a:lnTo>
                  <a:lnTo>
                    <a:pt x="0" y="4501007"/>
                  </a:lnTo>
                  <a:lnTo>
                    <a:pt x="0" y="0"/>
                  </a:lnTo>
                  <a:close/>
                </a:path>
              </a:pathLst>
            </a:custGeom>
            <a:blipFill>
              <a:blip r:embed="rId7"/>
              <a:stretch>
                <a:fillRect l="-52" t="0" r="-52" b="1"/>
              </a:stretch>
            </a:blipFill>
          </p:spPr>
        </p:sp>
      </p:grpSp>
      <p:sp>
        <p:nvSpPr>
          <p:cNvPr name="TextBox 15" id="15"/>
          <p:cNvSpPr txBox="true"/>
          <p:nvPr/>
        </p:nvSpPr>
        <p:spPr>
          <a:xfrm rot="0">
            <a:off x="2162766" y="6210891"/>
            <a:ext cx="6669138" cy="639213"/>
          </a:xfrm>
          <a:prstGeom prst="rect">
            <a:avLst/>
          </a:prstGeom>
        </p:spPr>
        <p:txBody>
          <a:bodyPr anchor="t" rtlCol="false" tIns="0" lIns="0" bIns="0" rIns="0">
            <a:spAutoFit/>
          </a:bodyPr>
          <a:lstStyle/>
          <a:p>
            <a:pPr algn="r" rtl="true">
              <a:lnSpc>
                <a:spcPts val="4875"/>
              </a:lnSpc>
            </a:pPr>
            <a:r>
              <a:rPr lang="ar-EG" sz="3875">
                <a:solidFill>
                  <a:srgbClr val="F2E782"/>
                </a:solidFill>
                <a:latin typeface="Prata"/>
                <a:ea typeface="Prata"/>
                <a:cs typeface="Prata"/>
                <a:sym typeface="Prata"/>
                <a:rtl val="true"/>
              </a:rPr>
              <a:t>العصر الروماني (</a:t>
            </a:r>
            <a:r>
              <a:rPr lang="en-US" sz="3875">
                <a:solidFill>
                  <a:srgbClr val="F2E782"/>
                </a:solidFill>
                <a:latin typeface="Prata"/>
                <a:ea typeface="Prata"/>
                <a:cs typeface="Prata"/>
                <a:sym typeface="Prata"/>
              </a:rPr>
              <a:t>30</a:t>
            </a:r>
            <a:r>
              <a:rPr lang="ar-EG" sz="3875">
                <a:solidFill>
                  <a:srgbClr val="F2E782"/>
                </a:solidFill>
                <a:latin typeface="Prata"/>
                <a:ea typeface="Prata"/>
                <a:cs typeface="Prata"/>
                <a:sym typeface="Prata"/>
                <a:rtl val="true"/>
              </a:rPr>
              <a:t> ق.م – </a:t>
            </a:r>
            <a:r>
              <a:rPr lang="en-US" sz="3875">
                <a:solidFill>
                  <a:srgbClr val="F2E782"/>
                </a:solidFill>
                <a:latin typeface="Prata"/>
                <a:ea typeface="Prata"/>
                <a:cs typeface="Prata"/>
                <a:sym typeface="Prata"/>
              </a:rPr>
              <a:t>395</a:t>
            </a:r>
            <a:r>
              <a:rPr lang="ar-EG" sz="3875">
                <a:solidFill>
                  <a:srgbClr val="F2E782"/>
                </a:solidFill>
                <a:latin typeface="Prata"/>
                <a:ea typeface="Prata"/>
                <a:cs typeface="Prata"/>
                <a:sym typeface="Prata"/>
                <a:rtl val="true"/>
              </a:rPr>
              <a:t> م)</a:t>
            </a:r>
          </a:p>
        </p:txBody>
      </p:sp>
      <p:sp>
        <p:nvSpPr>
          <p:cNvPr name="TextBox 16" id="16"/>
          <p:cNvSpPr txBox="true"/>
          <p:nvPr/>
        </p:nvSpPr>
        <p:spPr>
          <a:xfrm rot="0">
            <a:off x="982713" y="7012334"/>
            <a:ext cx="7849191"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أصبحت مصر ولاية رومانية، وتعرضت لاستغلال اقتصادي شديد من قبل الإمبراطورية الرومانية التي كانت تعتبرها سلة خبزها. شهد هذا العصر انتشار المسيحية في مصر، وبدأت الكنائس الأولى في الظهور.</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6049015" y="9686925"/>
            <a:ext cx="2153260" cy="514350"/>
            <a:chOff x="0" y="0"/>
            <a:chExt cx="2871013" cy="685800"/>
          </a:xfrm>
        </p:grpSpPr>
        <p:sp>
          <p:nvSpPr>
            <p:cNvPr name="Freeform 5" id="5"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sp>
        <p:nvSpPr>
          <p:cNvPr name="TextBox 8" id="8"/>
          <p:cNvSpPr txBox="true"/>
          <p:nvPr/>
        </p:nvSpPr>
        <p:spPr>
          <a:xfrm rot="0">
            <a:off x="5715591" y="2874169"/>
            <a:ext cx="11580171" cy="794147"/>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العصر البيزنطي: اضطهاد وانتظار (</a:t>
            </a:r>
            <a:r>
              <a:rPr lang="en-US" sz="4875">
                <a:solidFill>
                  <a:srgbClr val="F2E782"/>
                </a:solidFill>
                <a:latin typeface="Prata"/>
                <a:ea typeface="Prata"/>
                <a:cs typeface="Prata"/>
                <a:sym typeface="Prata"/>
              </a:rPr>
              <a:t>395</a:t>
            </a:r>
            <a:r>
              <a:rPr lang="ar-EG" sz="4875">
                <a:solidFill>
                  <a:srgbClr val="F2E782"/>
                </a:solidFill>
                <a:latin typeface="Prata"/>
                <a:ea typeface="Prata"/>
                <a:cs typeface="Prata"/>
                <a:sym typeface="Prata"/>
                <a:rtl val="true"/>
              </a:rPr>
              <a:t> – </a:t>
            </a:r>
            <a:r>
              <a:rPr lang="en-US" sz="4875">
                <a:solidFill>
                  <a:srgbClr val="F2E782"/>
                </a:solidFill>
                <a:latin typeface="Prata"/>
                <a:ea typeface="Prata"/>
                <a:cs typeface="Prata"/>
                <a:sym typeface="Prata"/>
              </a:rPr>
              <a:t>641</a:t>
            </a:r>
            <a:r>
              <a:rPr lang="ar-EG" sz="4875">
                <a:solidFill>
                  <a:srgbClr val="F2E782"/>
                </a:solidFill>
                <a:latin typeface="Prata"/>
                <a:ea typeface="Prata"/>
                <a:cs typeface="Prata"/>
                <a:sym typeface="Prata"/>
                <a:rtl val="true"/>
              </a:rPr>
              <a:t> م)</a:t>
            </a:r>
          </a:p>
        </p:txBody>
      </p:sp>
      <p:sp>
        <p:nvSpPr>
          <p:cNvPr name="TextBox 9" id="9"/>
          <p:cNvSpPr txBox="true"/>
          <p:nvPr/>
        </p:nvSpPr>
        <p:spPr>
          <a:xfrm rot="0">
            <a:off x="992238" y="3954666"/>
            <a:ext cx="16303523"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استمر الحكم الروماني لمصر، ولكن بصبغة مسيحية شرقية بعد انقسام الإمبراطورية الرومانية. شهد هذا العصر اضطهادًا شديدًا للمصريين، خاصة الأقباط، بسبب الخلافات الدينية مع الكنيسة البيزنطية. انتهى هذا العصر بالفتح الإسلامي لمصر، الذي مثل نقطة تحول كبرى في تاريخ البلاد.</a:t>
            </a:r>
          </a:p>
        </p:txBody>
      </p:sp>
      <p:grpSp>
        <p:nvGrpSpPr>
          <p:cNvPr name="Group 10" id="10"/>
          <p:cNvGrpSpPr/>
          <p:nvPr/>
        </p:nvGrpSpPr>
        <p:grpSpPr>
          <a:xfrm rot="0">
            <a:off x="12012368" y="5098999"/>
            <a:ext cx="5297691" cy="2308917"/>
            <a:chOff x="0" y="0"/>
            <a:chExt cx="7063588" cy="3078556"/>
          </a:xfrm>
        </p:grpSpPr>
        <p:sp>
          <p:nvSpPr>
            <p:cNvPr name="Freeform 11" id="11"/>
            <p:cNvSpPr/>
            <p:nvPr/>
          </p:nvSpPr>
          <p:spPr>
            <a:xfrm flipH="false" flipV="false" rot="0">
              <a:off x="19050" y="19050"/>
              <a:ext cx="7025386" cy="3040507"/>
            </a:xfrm>
            <a:custGeom>
              <a:avLst/>
              <a:gdLst/>
              <a:ahLst/>
              <a:cxnLst/>
              <a:rect r="r" b="b" t="t" l="l"/>
              <a:pathLst>
                <a:path h="3040507" w="7025386">
                  <a:moveTo>
                    <a:pt x="0" y="49657"/>
                  </a:moveTo>
                  <a:cubicBezTo>
                    <a:pt x="0" y="22225"/>
                    <a:pt x="22352" y="0"/>
                    <a:pt x="49911" y="0"/>
                  </a:cubicBezTo>
                  <a:lnTo>
                    <a:pt x="6975475" y="0"/>
                  </a:lnTo>
                  <a:cubicBezTo>
                    <a:pt x="7003034" y="0"/>
                    <a:pt x="7025386" y="22225"/>
                    <a:pt x="7025386" y="49657"/>
                  </a:cubicBezTo>
                  <a:lnTo>
                    <a:pt x="7025386" y="2990850"/>
                  </a:lnTo>
                  <a:cubicBezTo>
                    <a:pt x="7025386" y="3018282"/>
                    <a:pt x="7003034" y="3040507"/>
                    <a:pt x="6975475" y="3040507"/>
                  </a:cubicBezTo>
                  <a:lnTo>
                    <a:pt x="49911" y="3040507"/>
                  </a:lnTo>
                  <a:cubicBezTo>
                    <a:pt x="22352" y="3040507"/>
                    <a:pt x="0" y="3018282"/>
                    <a:pt x="0" y="2990850"/>
                  </a:cubicBezTo>
                  <a:close/>
                </a:path>
              </a:pathLst>
            </a:custGeom>
            <a:solidFill>
              <a:srgbClr val="1B1C1D"/>
            </a:solidFill>
          </p:spPr>
        </p:sp>
        <p:sp>
          <p:nvSpPr>
            <p:cNvPr name="Freeform 12" id="12"/>
            <p:cNvSpPr/>
            <p:nvPr/>
          </p:nvSpPr>
          <p:spPr>
            <a:xfrm flipH="false" flipV="false" rot="0">
              <a:off x="0" y="0"/>
              <a:ext cx="7063486" cy="3078607"/>
            </a:xfrm>
            <a:custGeom>
              <a:avLst/>
              <a:gdLst/>
              <a:ahLst/>
              <a:cxnLst/>
              <a:rect r="r" b="b" t="t" l="l"/>
              <a:pathLst>
                <a:path h="3078607" w="7063486">
                  <a:moveTo>
                    <a:pt x="0" y="68707"/>
                  </a:moveTo>
                  <a:cubicBezTo>
                    <a:pt x="0" y="30607"/>
                    <a:pt x="30988" y="0"/>
                    <a:pt x="68961" y="0"/>
                  </a:cubicBezTo>
                  <a:lnTo>
                    <a:pt x="6994525" y="0"/>
                  </a:lnTo>
                  <a:lnTo>
                    <a:pt x="6994525" y="19050"/>
                  </a:lnTo>
                  <a:lnTo>
                    <a:pt x="6994525" y="0"/>
                  </a:lnTo>
                  <a:cubicBezTo>
                    <a:pt x="7032498" y="0"/>
                    <a:pt x="7063486" y="30607"/>
                    <a:pt x="7063486" y="68707"/>
                  </a:cubicBezTo>
                  <a:lnTo>
                    <a:pt x="7044436" y="68707"/>
                  </a:lnTo>
                  <a:lnTo>
                    <a:pt x="7063486" y="68707"/>
                  </a:lnTo>
                  <a:lnTo>
                    <a:pt x="7063486" y="3009900"/>
                  </a:lnTo>
                  <a:lnTo>
                    <a:pt x="7044436" y="3009900"/>
                  </a:lnTo>
                  <a:lnTo>
                    <a:pt x="7063486" y="3009900"/>
                  </a:lnTo>
                  <a:cubicBezTo>
                    <a:pt x="7063486" y="3048000"/>
                    <a:pt x="7032498" y="3078607"/>
                    <a:pt x="6994525" y="3078607"/>
                  </a:cubicBezTo>
                  <a:lnTo>
                    <a:pt x="6994525" y="3059557"/>
                  </a:lnTo>
                  <a:lnTo>
                    <a:pt x="6994525" y="3078607"/>
                  </a:lnTo>
                  <a:lnTo>
                    <a:pt x="68961" y="3078607"/>
                  </a:lnTo>
                  <a:lnTo>
                    <a:pt x="68961" y="3059557"/>
                  </a:lnTo>
                  <a:lnTo>
                    <a:pt x="68961" y="3078607"/>
                  </a:lnTo>
                  <a:cubicBezTo>
                    <a:pt x="30988" y="3078607"/>
                    <a:pt x="0" y="3048000"/>
                    <a:pt x="0" y="3009900"/>
                  </a:cubicBezTo>
                  <a:lnTo>
                    <a:pt x="0" y="68707"/>
                  </a:lnTo>
                  <a:lnTo>
                    <a:pt x="19050" y="68707"/>
                  </a:lnTo>
                  <a:lnTo>
                    <a:pt x="0" y="68707"/>
                  </a:lnTo>
                  <a:moveTo>
                    <a:pt x="38100" y="68707"/>
                  </a:moveTo>
                  <a:lnTo>
                    <a:pt x="38100" y="3009900"/>
                  </a:lnTo>
                  <a:lnTo>
                    <a:pt x="19050" y="3009900"/>
                  </a:lnTo>
                  <a:lnTo>
                    <a:pt x="38100" y="3009900"/>
                  </a:lnTo>
                  <a:cubicBezTo>
                    <a:pt x="38100" y="3026664"/>
                    <a:pt x="51816" y="3040507"/>
                    <a:pt x="68961" y="3040507"/>
                  </a:cubicBezTo>
                  <a:lnTo>
                    <a:pt x="6994525" y="3040507"/>
                  </a:lnTo>
                  <a:cubicBezTo>
                    <a:pt x="7011670" y="3040507"/>
                    <a:pt x="7025386" y="3026664"/>
                    <a:pt x="7025386" y="3009900"/>
                  </a:cubicBezTo>
                  <a:lnTo>
                    <a:pt x="7025386" y="68707"/>
                  </a:lnTo>
                  <a:cubicBezTo>
                    <a:pt x="7025386" y="51943"/>
                    <a:pt x="7011670" y="38100"/>
                    <a:pt x="6994525" y="38100"/>
                  </a:cubicBezTo>
                  <a:lnTo>
                    <a:pt x="68961" y="38100"/>
                  </a:lnTo>
                  <a:lnTo>
                    <a:pt x="68961" y="19050"/>
                  </a:lnTo>
                  <a:lnTo>
                    <a:pt x="68961" y="38100"/>
                  </a:lnTo>
                  <a:cubicBezTo>
                    <a:pt x="51816" y="38100"/>
                    <a:pt x="38100" y="51943"/>
                    <a:pt x="38100" y="68707"/>
                  </a:cubicBezTo>
                  <a:close/>
                </a:path>
              </a:pathLst>
            </a:custGeom>
            <a:solidFill>
              <a:srgbClr val="535455"/>
            </a:solidFill>
          </p:spPr>
        </p:sp>
      </p:grpSp>
      <p:grpSp>
        <p:nvGrpSpPr>
          <p:cNvPr name="Group 13" id="13"/>
          <p:cNvGrpSpPr/>
          <p:nvPr/>
        </p:nvGrpSpPr>
        <p:grpSpPr>
          <a:xfrm rot="0">
            <a:off x="12026656" y="5113287"/>
            <a:ext cx="114300" cy="2280342"/>
            <a:chOff x="0" y="0"/>
            <a:chExt cx="152400" cy="3040456"/>
          </a:xfrm>
        </p:grpSpPr>
        <p:sp>
          <p:nvSpPr>
            <p:cNvPr name="Freeform 14" id="14" descr="preencoded.png"/>
            <p:cNvSpPr/>
            <p:nvPr/>
          </p:nvSpPr>
          <p:spPr>
            <a:xfrm flipH="false" flipV="false" rot="0">
              <a:off x="0" y="0"/>
              <a:ext cx="152400" cy="3040507"/>
            </a:xfrm>
            <a:custGeom>
              <a:avLst/>
              <a:gdLst/>
              <a:ahLst/>
              <a:cxnLst/>
              <a:rect r="r" b="b" t="t" l="l"/>
              <a:pathLst>
                <a:path h="3040507" w="152400">
                  <a:moveTo>
                    <a:pt x="0" y="0"/>
                  </a:moveTo>
                  <a:lnTo>
                    <a:pt x="152400" y="0"/>
                  </a:lnTo>
                  <a:lnTo>
                    <a:pt x="152400" y="3040507"/>
                  </a:lnTo>
                  <a:lnTo>
                    <a:pt x="0" y="3040507"/>
                  </a:lnTo>
                  <a:lnTo>
                    <a:pt x="0" y="0"/>
                  </a:lnTo>
                  <a:close/>
                </a:path>
              </a:pathLst>
            </a:custGeom>
            <a:blipFill>
              <a:blip r:embed="rId6"/>
              <a:stretch>
                <a:fillRect l="-83" t="0" r="-83" b="1"/>
              </a:stretch>
            </a:blipFill>
          </p:spPr>
        </p:sp>
      </p:grpSp>
      <p:sp>
        <p:nvSpPr>
          <p:cNvPr name="TextBox 15" id="15"/>
          <p:cNvSpPr txBox="true"/>
          <p:nvPr/>
        </p:nvSpPr>
        <p:spPr>
          <a:xfrm rot="0">
            <a:off x="13832386" y="5389807"/>
            <a:ext cx="3101130"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استمرار الحكم الروماني</a:t>
            </a:r>
          </a:p>
        </p:txBody>
      </p:sp>
      <p:sp>
        <p:nvSpPr>
          <p:cNvPr name="TextBox 16" id="16"/>
          <p:cNvSpPr txBox="true"/>
          <p:nvPr/>
        </p:nvSpPr>
        <p:spPr>
          <a:xfrm rot="0">
            <a:off x="12303176" y="5840616"/>
            <a:ext cx="4630341"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بعد انقسام الإمبراطورية الرومانية، أصبحت مصر جزءًا من الإمبراطورية البيزنطية.</a:t>
            </a:r>
          </a:p>
        </p:txBody>
      </p:sp>
      <p:grpSp>
        <p:nvGrpSpPr>
          <p:cNvPr name="Group 17" id="17"/>
          <p:cNvGrpSpPr/>
          <p:nvPr/>
        </p:nvGrpSpPr>
        <p:grpSpPr>
          <a:xfrm rot="0">
            <a:off x="6495155" y="5098999"/>
            <a:ext cx="5297834" cy="2308917"/>
            <a:chOff x="0" y="0"/>
            <a:chExt cx="7063778" cy="3078556"/>
          </a:xfrm>
        </p:grpSpPr>
        <p:sp>
          <p:nvSpPr>
            <p:cNvPr name="Freeform 18" id="18"/>
            <p:cNvSpPr/>
            <p:nvPr/>
          </p:nvSpPr>
          <p:spPr>
            <a:xfrm flipH="false" flipV="false" rot="0">
              <a:off x="19050" y="19050"/>
              <a:ext cx="7025640" cy="3040507"/>
            </a:xfrm>
            <a:custGeom>
              <a:avLst/>
              <a:gdLst/>
              <a:ahLst/>
              <a:cxnLst/>
              <a:rect r="r" b="b" t="t" l="l"/>
              <a:pathLst>
                <a:path h="3040507" w="7025640">
                  <a:moveTo>
                    <a:pt x="0" y="49657"/>
                  </a:moveTo>
                  <a:cubicBezTo>
                    <a:pt x="0" y="22225"/>
                    <a:pt x="22352" y="0"/>
                    <a:pt x="49911" y="0"/>
                  </a:cubicBezTo>
                  <a:lnTo>
                    <a:pt x="6975729" y="0"/>
                  </a:lnTo>
                  <a:cubicBezTo>
                    <a:pt x="7003288" y="0"/>
                    <a:pt x="7025640" y="22225"/>
                    <a:pt x="7025640" y="49657"/>
                  </a:cubicBezTo>
                  <a:lnTo>
                    <a:pt x="7025640" y="2990850"/>
                  </a:lnTo>
                  <a:cubicBezTo>
                    <a:pt x="7025640" y="3018282"/>
                    <a:pt x="7003288" y="3040507"/>
                    <a:pt x="6975729" y="3040507"/>
                  </a:cubicBezTo>
                  <a:lnTo>
                    <a:pt x="49911" y="3040507"/>
                  </a:lnTo>
                  <a:cubicBezTo>
                    <a:pt x="22352" y="3040507"/>
                    <a:pt x="0" y="3018282"/>
                    <a:pt x="0" y="2990850"/>
                  </a:cubicBezTo>
                  <a:close/>
                </a:path>
              </a:pathLst>
            </a:custGeom>
            <a:solidFill>
              <a:srgbClr val="1B1C1D"/>
            </a:solidFill>
          </p:spPr>
        </p:sp>
        <p:sp>
          <p:nvSpPr>
            <p:cNvPr name="Freeform 19" id="19"/>
            <p:cNvSpPr/>
            <p:nvPr/>
          </p:nvSpPr>
          <p:spPr>
            <a:xfrm flipH="false" flipV="false" rot="0">
              <a:off x="0" y="0"/>
              <a:ext cx="7063740" cy="3078607"/>
            </a:xfrm>
            <a:custGeom>
              <a:avLst/>
              <a:gdLst/>
              <a:ahLst/>
              <a:cxnLst/>
              <a:rect r="r" b="b" t="t" l="l"/>
              <a:pathLst>
                <a:path h="3078607" w="7063740">
                  <a:moveTo>
                    <a:pt x="0" y="68707"/>
                  </a:moveTo>
                  <a:cubicBezTo>
                    <a:pt x="0" y="30607"/>
                    <a:pt x="30988" y="0"/>
                    <a:pt x="68961" y="0"/>
                  </a:cubicBezTo>
                  <a:lnTo>
                    <a:pt x="6994779" y="0"/>
                  </a:lnTo>
                  <a:lnTo>
                    <a:pt x="6994779" y="19050"/>
                  </a:lnTo>
                  <a:lnTo>
                    <a:pt x="6994779" y="0"/>
                  </a:lnTo>
                  <a:cubicBezTo>
                    <a:pt x="7032752" y="0"/>
                    <a:pt x="7063740" y="30607"/>
                    <a:pt x="7063740" y="68707"/>
                  </a:cubicBezTo>
                  <a:lnTo>
                    <a:pt x="7044690" y="68707"/>
                  </a:lnTo>
                  <a:lnTo>
                    <a:pt x="7063740" y="68707"/>
                  </a:lnTo>
                  <a:lnTo>
                    <a:pt x="7063740" y="3009900"/>
                  </a:lnTo>
                  <a:lnTo>
                    <a:pt x="7044690" y="3009900"/>
                  </a:lnTo>
                  <a:lnTo>
                    <a:pt x="7063740" y="3009900"/>
                  </a:lnTo>
                  <a:cubicBezTo>
                    <a:pt x="7063740" y="3048000"/>
                    <a:pt x="7032752" y="3078607"/>
                    <a:pt x="6994779" y="3078607"/>
                  </a:cubicBezTo>
                  <a:lnTo>
                    <a:pt x="6994779" y="3059557"/>
                  </a:lnTo>
                  <a:lnTo>
                    <a:pt x="6994779" y="3078607"/>
                  </a:lnTo>
                  <a:lnTo>
                    <a:pt x="68961" y="3078607"/>
                  </a:lnTo>
                  <a:lnTo>
                    <a:pt x="68961" y="3059557"/>
                  </a:lnTo>
                  <a:lnTo>
                    <a:pt x="68961" y="3078607"/>
                  </a:lnTo>
                  <a:cubicBezTo>
                    <a:pt x="30988" y="3078607"/>
                    <a:pt x="0" y="3048000"/>
                    <a:pt x="0" y="3009900"/>
                  </a:cubicBezTo>
                  <a:lnTo>
                    <a:pt x="0" y="68707"/>
                  </a:lnTo>
                  <a:lnTo>
                    <a:pt x="19050" y="68707"/>
                  </a:lnTo>
                  <a:lnTo>
                    <a:pt x="0" y="68707"/>
                  </a:lnTo>
                  <a:moveTo>
                    <a:pt x="38100" y="68707"/>
                  </a:moveTo>
                  <a:lnTo>
                    <a:pt x="38100" y="3009900"/>
                  </a:lnTo>
                  <a:lnTo>
                    <a:pt x="19050" y="3009900"/>
                  </a:lnTo>
                  <a:lnTo>
                    <a:pt x="38100" y="3009900"/>
                  </a:lnTo>
                  <a:cubicBezTo>
                    <a:pt x="38100" y="3026664"/>
                    <a:pt x="51816" y="3040507"/>
                    <a:pt x="68961" y="3040507"/>
                  </a:cubicBezTo>
                  <a:lnTo>
                    <a:pt x="6994779" y="3040507"/>
                  </a:lnTo>
                  <a:cubicBezTo>
                    <a:pt x="7011924" y="3040507"/>
                    <a:pt x="7025640" y="3026664"/>
                    <a:pt x="7025640" y="3009900"/>
                  </a:cubicBezTo>
                  <a:lnTo>
                    <a:pt x="7025640" y="68707"/>
                  </a:lnTo>
                  <a:cubicBezTo>
                    <a:pt x="7025640" y="51943"/>
                    <a:pt x="7011924" y="38100"/>
                    <a:pt x="6994779" y="38100"/>
                  </a:cubicBezTo>
                  <a:lnTo>
                    <a:pt x="68961" y="38100"/>
                  </a:lnTo>
                  <a:lnTo>
                    <a:pt x="68961" y="19050"/>
                  </a:lnTo>
                  <a:lnTo>
                    <a:pt x="68961" y="38100"/>
                  </a:lnTo>
                  <a:cubicBezTo>
                    <a:pt x="51816" y="38100"/>
                    <a:pt x="38100" y="51943"/>
                    <a:pt x="38100" y="68707"/>
                  </a:cubicBezTo>
                  <a:close/>
                </a:path>
              </a:pathLst>
            </a:custGeom>
            <a:solidFill>
              <a:srgbClr val="535455"/>
            </a:solidFill>
          </p:spPr>
        </p:sp>
      </p:grpSp>
      <p:grpSp>
        <p:nvGrpSpPr>
          <p:cNvPr name="Group 20" id="20"/>
          <p:cNvGrpSpPr/>
          <p:nvPr/>
        </p:nvGrpSpPr>
        <p:grpSpPr>
          <a:xfrm rot="0">
            <a:off x="6509442" y="5113287"/>
            <a:ext cx="114300" cy="2280342"/>
            <a:chOff x="0" y="0"/>
            <a:chExt cx="152400" cy="3040456"/>
          </a:xfrm>
        </p:grpSpPr>
        <p:sp>
          <p:nvSpPr>
            <p:cNvPr name="Freeform 21" id="21" descr="preencoded.png"/>
            <p:cNvSpPr/>
            <p:nvPr/>
          </p:nvSpPr>
          <p:spPr>
            <a:xfrm flipH="false" flipV="false" rot="0">
              <a:off x="0" y="0"/>
              <a:ext cx="152400" cy="3040507"/>
            </a:xfrm>
            <a:custGeom>
              <a:avLst/>
              <a:gdLst/>
              <a:ahLst/>
              <a:cxnLst/>
              <a:rect r="r" b="b" t="t" l="l"/>
              <a:pathLst>
                <a:path h="3040507" w="152400">
                  <a:moveTo>
                    <a:pt x="0" y="0"/>
                  </a:moveTo>
                  <a:lnTo>
                    <a:pt x="152400" y="0"/>
                  </a:lnTo>
                  <a:lnTo>
                    <a:pt x="152400" y="3040507"/>
                  </a:lnTo>
                  <a:lnTo>
                    <a:pt x="0" y="3040507"/>
                  </a:lnTo>
                  <a:lnTo>
                    <a:pt x="0" y="0"/>
                  </a:lnTo>
                  <a:close/>
                </a:path>
              </a:pathLst>
            </a:custGeom>
            <a:blipFill>
              <a:blip r:embed="rId6"/>
              <a:stretch>
                <a:fillRect l="-83" t="0" r="-83" b="1"/>
              </a:stretch>
            </a:blipFill>
          </p:spPr>
        </p:sp>
      </p:grpSp>
      <p:sp>
        <p:nvSpPr>
          <p:cNvPr name="TextBox 22" id="22"/>
          <p:cNvSpPr txBox="true"/>
          <p:nvPr/>
        </p:nvSpPr>
        <p:spPr>
          <a:xfrm rot="0">
            <a:off x="8315325" y="5389807"/>
            <a:ext cx="3101130"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اضطهاد الأقباط</a:t>
            </a:r>
          </a:p>
        </p:txBody>
      </p:sp>
      <p:sp>
        <p:nvSpPr>
          <p:cNvPr name="TextBox 23" id="23"/>
          <p:cNvSpPr txBox="true"/>
          <p:nvPr/>
        </p:nvSpPr>
        <p:spPr>
          <a:xfrm rot="0">
            <a:off x="6785972" y="5840616"/>
            <a:ext cx="4630493"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عانى الأقباط من اضطهاد ديني وسياسي بسبب الخلافات المذهبية مع الكنيسة البيزنطية.</a:t>
            </a:r>
          </a:p>
        </p:txBody>
      </p:sp>
      <p:grpSp>
        <p:nvGrpSpPr>
          <p:cNvPr name="Group 24" id="24"/>
          <p:cNvGrpSpPr/>
          <p:nvPr/>
        </p:nvGrpSpPr>
        <p:grpSpPr>
          <a:xfrm rot="0">
            <a:off x="978103" y="5098999"/>
            <a:ext cx="5297691" cy="2308917"/>
            <a:chOff x="0" y="0"/>
            <a:chExt cx="7063588" cy="3078556"/>
          </a:xfrm>
        </p:grpSpPr>
        <p:sp>
          <p:nvSpPr>
            <p:cNvPr name="Freeform 25" id="25"/>
            <p:cNvSpPr/>
            <p:nvPr/>
          </p:nvSpPr>
          <p:spPr>
            <a:xfrm flipH="false" flipV="false" rot="0">
              <a:off x="19050" y="19050"/>
              <a:ext cx="7025386" cy="3040507"/>
            </a:xfrm>
            <a:custGeom>
              <a:avLst/>
              <a:gdLst/>
              <a:ahLst/>
              <a:cxnLst/>
              <a:rect r="r" b="b" t="t" l="l"/>
              <a:pathLst>
                <a:path h="3040507" w="7025386">
                  <a:moveTo>
                    <a:pt x="0" y="49657"/>
                  </a:moveTo>
                  <a:cubicBezTo>
                    <a:pt x="0" y="22225"/>
                    <a:pt x="22352" y="0"/>
                    <a:pt x="49911" y="0"/>
                  </a:cubicBezTo>
                  <a:lnTo>
                    <a:pt x="6975475" y="0"/>
                  </a:lnTo>
                  <a:cubicBezTo>
                    <a:pt x="7003034" y="0"/>
                    <a:pt x="7025386" y="22225"/>
                    <a:pt x="7025386" y="49657"/>
                  </a:cubicBezTo>
                  <a:lnTo>
                    <a:pt x="7025386" y="2990850"/>
                  </a:lnTo>
                  <a:cubicBezTo>
                    <a:pt x="7025386" y="3018282"/>
                    <a:pt x="7003034" y="3040507"/>
                    <a:pt x="6975475" y="3040507"/>
                  </a:cubicBezTo>
                  <a:lnTo>
                    <a:pt x="49911" y="3040507"/>
                  </a:lnTo>
                  <a:cubicBezTo>
                    <a:pt x="22352" y="3040507"/>
                    <a:pt x="0" y="3018282"/>
                    <a:pt x="0" y="2990850"/>
                  </a:cubicBezTo>
                  <a:close/>
                </a:path>
              </a:pathLst>
            </a:custGeom>
            <a:solidFill>
              <a:srgbClr val="1B1C1D"/>
            </a:solidFill>
          </p:spPr>
        </p:sp>
        <p:sp>
          <p:nvSpPr>
            <p:cNvPr name="Freeform 26" id="26"/>
            <p:cNvSpPr/>
            <p:nvPr/>
          </p:nvSpPr>
          <p:spPr>
            <a:xfrm flipH="false" flipV="false" rot="0">
              <a:off x="0" y="0"/>
              <a:ext cx="7063486" cy="3078607"/>
            </a:xfrm>
            <a:custGeom>
              <a:avLst/>
              <a:gdLst/>
              <a:ahLst/>
              <a:cxnLst/>
              <a:rect r="r" b="b" t="t" l="l"/>
              <a:pathLst>
                <a:path h="3078607" w="7063486">
                  <a:moveTo>
                    <a:pt x="0" y="68707"/>
                  </a:moveTo>
                  <a:cubicBezTo>
                    <a:pt x="0" y="30607"/>
                    <a:pt x="30988" y="0"/>
                    <a:pt x="68961" y="0"/>
                  </a:cubicBezTo>
                  <a:lnTo>
                    <a:pt x="6994525" y="0"/>
                  </a:lnTo>
                  <a:lnTo>
                    <a:pt x="6994525" y="19050"/>
                  </a:lnTo>
                  <a:lnTo>
                    <a:pt x="6994525" y="0"/>
                  </a:lnTo>
                  <a:cubicBezTo>
                    <a:pt x="7032498" y="0"/>
                    <a:pt x="7063486" y="30607"/>
                    <a:pt x="7063486" y="68707"/>
                  </a:cubicBezTo>
                  <a:lnTo>
                    <a:pt x="7044436" y="68707"/>
                  </a:lnTo>
                  <a:lnTo>
                    <a:pt x="7063486" y="68707"/>
                  </a:lnTo>
                  <a:lnTo>
                    <a:pt x="7063486" y="3009900"/>
                  </a:lnTo>
                  <a:lnTo>
                    <a:pt x="7044436" y="3009900"/>
                  </a:lnTo>
                  <a:lnTo>
                    <a:pt x="7063486" y="3009900"/>
                  </a:lnTo>
                  <a:cubicBezTo>
                    <a:pt x="7063486" y="3048000"/>
                    <a:pt x="7032498" y="3078607"/>
                    <a:pt x="6994525" y="3078607"/>
                  </a:cubicBezTo>
                  <a:lnTo>
                    <a:pt x="6994525" y="3059557"/>
                  </a:lnTo>
                  <a:lnTo>
                    <a:pt x="6994525" y="3078607"/>
                  </a:lnTo>
                  <a:lnTo>
                    <a:pt x="68961" y="3078607"/>
                  </a:lnTo>
                  <a:lnTo>
                    <a:pt x="68961" y="3059557"/>
                  </a:lnTo>
                  <a:lnTo>
                    <a:pt x="68961" y="3078607"/>
                  </a:lnTo>
                  <a:cubicBezTo>
                    <a:pt x="30988" y="3078607"/>
                    <a:pt x="0" y="3048000"/>
                    <a:pt x="0" y="3009900"/>
                  </a:cubicBezTo>
                  <a:lnTo>
                    <a:pt x="0" y="68707"/>
                  </a:lnTo>
                  <a:lnTo>
                    <a:pt x="19050" y="68707"/>
                  </a:lnTo>
                  <a:lnTo>
                    <a:pt x="0" y="68707"/>
                  </a:lnTo>
                  <a:moveTo>
                    <a:pt x="38100" y="68707"/>
                  </a:moveTo>
                  <a:lnTo>
                    <a:pt x="38100" y="3009900"/>
                  </a:lnTo>
                  <a:lnTo>
                    <a:pt x="19050" y="3009900"/>
                  </a:lnTo>
                  <a:lnTo>
                    <a:pt x="38100" y="3009900"/>
                  </a:lnTo>
                  <a:cubicBezTo>
                    <a:pt x="38100" y="3026664"/>
                    <a:pt x="51816" y="3040507"/>
                    <a:pt x="68961" y="3040507"/>
                  </a:cubicBezTo>
                  <a:lnTo>
                    <a:pt x="6994525" y="3040507"/>
                  </a:lnTo>
                  <a:cubicBezTo>
                    <a:pt x="7011670" y="3040507"/>
                    <a:pt x="7025386" y="3026664"/>
                    <a:pt x="7025386" y="3009900"/>
                  </a:cubicBezTo>
                  <a:lnTo>
                    <a:pt x="7025386" y="68707"/>
                  </a:lnTo>
                  <a:cubicBezTo>
                    <a:pt x="7025386" y="51943"/>
                    <a:pt x="7011670" y="38100"/>
                    <a:pt x="6994525" y="38100"/>
                  </a:cubicBezTo>
                  <a:lnTo>
                    <a:pt x="68961" y="38100"/>
                  </a:lnTo>
                  <a:lnTo>
                    <a:pt x="68961" y="19050"/>
                  </a:lnTo>
                  <a:lnTo>
                    <a:pt x="68961" y="38100"/>
                  </a:lnTo>
                  <a:cubicBezTo>
                    <a:pt x="51816" y="38100"/>
                    <a:pt x="38100" y="51943"/>
                    <a:pt x="38100" y="68707"/>
                  </a:cubicBezTo>
                  <a:close/>
                </a:path>
              </a:pathLst>
            </a:custGeom>
            <a:solidFill>
              <a:srgbClr val="535455"/>
            </a:solidFill>
          </p:spPr>
        </p:sp>
      </p:grpSp>
      <p:grpSp>
        <p:nvGrpSpPr>
          <p:cNvPr name="Group 27" id="27"/>
          <p:cNvGrpSpPr/>
          <p:nvPr/>
        </p:nvGrpSpPr>
        <p:grpSpPr>
          <a:xfrm rot="0">
            <a:off x="992391" y="5113287"/>
            <a:ext cx="114300" cy="2280342"/>
            <a:chOff x="0" y="0"/>
            <a:chExt cx="152400" cy="3040456"/>
          </a:xfrm>
        </p:grpSpPr>
        <p:sp>
          <p:nvSpPr>
            <p:cNvPr name="Freeform 28" id="28" descr="preencoded.png"/>
            <p:cNvSpPr/>
            <p:nvPr/>
          </p:nvSpPr>
          <p:spPr>
            <a:xfrm flipH="false" flipV="false" rot="0">
              <a:off x="0" y="0"/>
              <a:ext cx="152400" cy="3040507"/>
            </a:xfrm>
            <a:custGeom>
              <a:avLst/>
              <a:gdLst/>
              <a:ahLst/>
              <a:cxnLst/>
              <a:rect r="r" b="b" t="t" l="l"/>
              <a:pathLst>
                <a:path h="3040507" w="152400">
                  <a:moveTo>
                    <a:pt x="0" y="0"/>
                  </a:moveTo>
                  <a:lnTo>
                    <a:pt x="152400" y="0"/>
                  </a:lnTo>
                  <a:lnTo>
                    <a:pt x="152400" y="3040507"/>
                  </a:lnTo>
                  <a:lnTo>
                    <a:pt x="0" y="3040507"/>
                  </a:lnTo>
                  <a:lnTo>
                    <a:pt x="0" y="0"/>
                  </a:lnTo>
                  <a:close/>
                </a:path>
              </a:pathLst>
            </a:custGeom>
            <a:blipFill>
              <a:blip r:embed="rId6"/>
              <a:stretch>
                <a:fillRect l="-83" t="0" r="-83" b="1"/>
              </a:stretch>
            </a:blipFill>
          </p:spPr>
        </p:sp>
      </p:grpSp>
      <p:sp>
        <p:nvSpPr>
          <p:cNvPr name="TextBox 29" id="29"/>
          <p:cNvSpPr txBox="true"/>
          <p:nvPr/>
        </p:nvSpPr>
        <p:spPr>
          <a:xfrm rot="0">
            <a:off x="2798121" y="5389807"/>
            <a:ext cx="3101130"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نهاية العصر</a:t>
            </a:r>
          </a:p>
        </p:txBody>
      </p:sp>
      <p:sp>
        <p:nvSpPr>
          <p:cNvPr name="TextBox 30" id="30"/>
          <p:cNvSpPr txBox="true"/>
          <p:nvPr/>
        </p:nvSpPr>
        <p:spPr>
          <a:xfrm rot="0">
            <a:off x="1268911" y="5840616"/>
            <a:ext cx="4630341"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انتهى العصر البيزنطي بفتح المسلمين لمصر عام </a:t>
            </a:r>
            <a:r>
              <a:rPr lang="en-US" sz="1937">
                <a:solidFill>
                  <a:srgbClr val="CFCBBF"/>
                </a:solidFill>
                <a:latin typeface="Raleway"/>
                <a:ea typeface="Raleway"/>
                <a:cs typeface="Raleway"/>
                <a:sym typeface="Raleway"/>
              </a:rPr>
              <a:t>641</a:t>
            </a:r>
            <a:r>
              <a:rPr lang="ar-EG" sz="1937">
                <a:solidFill>
                  <a:srgbClr val="CFCBBF"/>
                </a:solidFill>
                <a:latin typeface="Raleway"/>
                <a:ea typeface="Raleway"/>
                <a:cs typeface="Raleway"/>
                <a:sym typeface="Raleway"/>
                <a:rtl val="true"/>
              </a:rPr>
              <a:t> م، مما أدى إلى تغيير جذري في المشهد السياسي والديني.</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4235501" y="777030"/>
            <a:ext cx="6202261" cy="794147"/>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مصر الإسلامية: فجر جديد</a:t>
            </a:r>
          </a:p>
        </p:txBody>
      </p:sp>
      <p:grpSp>
        <p:nvGrpSpPr>
          <p:cNvPr name="Group 11" id="11"/>
          <p:cNvGrpSpPr/>
          <p:nvPr/>
        </p:nvGrpSpPr>
        <p:grpSpPr>
          <a:xfrm rot="0">
            <a:off x="10130133" y="1943252"/>
            <a:ext cx="28575" cy="7547667"/>
            <a:chOff x="0" y="0"/>
            <a:chExt cx="38100" cy="10063556"/>
          </a:xfrm>
        </p:grpSpPr>
        <p:sp>
          <p:nvSpPr>
            <p:cNvPr name="Freeform 12" id="12"/>
            <p:cNvSpPr/>
            <p:nvPr/>
          </p:nvSpPr>
          <p:spPr>
            <a:xfrm flipH="false" flipV="false" rot="0">
              <a:off x="0" y="0"/>
              <a:ext cx="38100" cy="10063607"/>
            </a:xfrm>
            <a:custGeom>
              <a:avLst/>
              <a:gdLst/>
              <a:ahLst/>
              <a:cxnLst/>
              <a:rect r="r" b="b" t="t" l="l"/>
              <a:pathLst>
                <a:path h="10063607" w="38100">
                  <a:moveTo>
                    <a:pt x="0" y="19050"/>
                  </a:moveTo>
                  <a:cubicBezTo>
                    <a:pt x="0" y="8509"/>
                    <a:pt x="8509" y="0"/>
                    <a:pt x="19050" y="0"/>
                  </a:cubicBezTo>
                  <a:cubicBezTo>
                    <a:pt x="29591" y="0"/>
                    <a:pt x="38100" y="8509"/>
                    <a:pt x="38100" y="19050"/>
                  </a:cubicBezTo>
                  <a:lnTo>
                    <a:pt x="38100" y="10044557"/>
                  </a:lnTo>
                  <a:cubicBezTo>
                    <a:pt x="38100" y="10055098"/>
                    <a:pt x="29591" y="10063607"/>
                    <a:pt x="19050" y="10063607"/>
                  </a:cubicBezTo>
                  <a:cubicBezTo>
                    <a:pt x="8509" y="10063607"/>
                    <a:pt x="0" y="10055098"/>
                    <a:pt x="0" y="10044557"/>
                  </a:cubicBezTo>
                  <a:close/>
                </a:path>
              </a:pathLst>
            </a:custGeom>
            <a:solidFill>
              <a:srgbClr val="535455"/>
            </a:solidFill>
          </p:spPr>
        </p:sp>
      </p:grpSp>
      <p:grpSp>
        <p:nvGrpSpPr>
          <p:cNvPr name="Group 13" id="13"/>
          <p:cNvGrpSpPr/>
          <p:nvPr/>
        </p:nvGrpSpPr>
        <p:grpSpPr>
          <a:xfrm rot="0">
            <a:off x="9164088" y="2208009"/>
            <a:ext cx="744141" cy="28575"/>
            <a:chOff x="0" y="0"/>
            <a:chExt cx="992188" cy="38100"/>
          </a:xfrm>
        </p:grpSpPr>
        <p:sp>
          <p:nvSpPr>
            <p:cNvPr name="Freeform 14" id="14"/>
            <p:cNvSpPr/>
            <p:nvPr/>
          </p:nvSpPr>
          <p:spPr>
            <a:xfrm flipH="false" flipV="false" rot="0">
              <a:off x="0" y="0"/>
              <a:ext cx="992251" cy="38100"/>
            </a:xfrm>
            <a:custGeom>
              <a:avLst/>
              <a:gdLst/>
              <a:ahLst/>
              <a:cxnLst/>
              <a:rect r="r" b="b" t="t" l="l"/>
              <a:pathLst>
                <a:path h="38100" w="992251">
                  <a:moveTo>
                    <a:pt x="0" y="19050"/>
                  </a:moveTo>
                  <a:cubicBezTo>
                    <a:pt x="0" y="8509"/>
                    <a:pt x="8509" y="0"/>
                    <a:pt x="19050" y="0"/>
                  </a:cubicBezTo>
                  <a:lnTo>
                    <a:pt x="973201" y="0"/>
                  </a:lnTo>
                  <a:cubicBezTo>
                    <a:pt x="983742" y="0"/>
                    <a:pt x="992251" y="8509"/>
                    <a:pt x="992251" y="19050"/>
                  </a:cubicBezTo>
                  <a:cubicBezTo>
                    <a:pt x="992251" y="29591"/>
                    <a:pt x="983615" y="38100"/>
                    <a:pt x="973201" y="38100"/>
                  </a:cubicBezTo>
                  <a:lnTo>
                    <a:pt x="19050" y="38100"/>
                  </a:lnTo>
                  <a:cubicBezTo>
                    <a:pt x="8509" y="38100"/>
                    <a:pt x="0" y="29591"/>
                    <a:pt x="0" y="19050"/>
                  </a:cubicBezTo>
                  <a:close/>
                </a:path>
              </a:pathLst>
            </a:custGeom>
            <a:solidFill>
              <a:srgbClr val="535455"/>
            </a:solidFill>
          </p:spPr>
        </p:sp>
      </p:grpSp>
      <p:grpSp>
        <p:nvGrpSpPr>
          <p:cNvPr name="Group 15" id="15"/>
          <p:cNvGrpSpPr/>
          <p:nvPr/>
        </p:nvGrpSpPr>
        <p:grpSpPr>
          <a:xfrm rot="0">
            <a:off x="9879654" y="1943252"/>
            <a:ext cx="558108" cy="558108"/>
            <a:chOff x="0" y="0"/>
            <a:chExt cx="744144" cy="744144"/>
          </a:xfrm>
        </p:grpSpPr>
        <p:sp>
          <p:nvSpPr>
            <p:cNvPr name="Freeform 16" id="16"/>
            <p:cNvSpPr/>
            <p:nvPr/>
          </p:nvSpPr>
          <p:spPr>
            <a:xfrm flipH="false" flipV="false" rot="0">
              <a:off x="0" y="0"/>
              <a:ext cx="744220" cy="744220"/>
            </a:xfrm>
            <a:custGeom>
              <a:avLst/>
              <a:gdLst/>
              <a:ahLst/>
              <a:cxnLst/>
              <a:rect r="r" b="b" t="t" l="l"/>
              <a:pathLst>
                <a:path h="744220" w="744220">
                  <a:moveTo>
                    <a:pt x="0" y="49657"/>
                  </a:moveTo>
                  <a:cubicBezTo>
                    <a:pt x="0" y="22225"/>
                    <a:pt x="22225" y="0"/>
                    <a:pt x="49657" y="0"/>
                  </a:cubicBezTo>
                  <a:lnTo>
                    <a:pt x="694563" y="0"/>
                  </a:lnTo>
                  <a:cubicBezTo>
                    <a:pt x="721995" y="0"/>
                    <a:pt x="744220" y="22225"/>
                    <a:pt x="744220" y="49657"/>
                  </a:cubicBezTo>
                  <a:lnTo>
                    <a:pt x="744220" y="694563"/>
                  </a:lnTo>
                  <a:cubicBezTo>
                    <a:pt x="744220" y="721995"/>
                    <a:pt x="721995" y="744220"/>
                    <a:pt x="694563" y="744220"/>
                  </a:cubicBezTo>
                  <a:lnTo>
                    <a:pt x="49657" y="744220"/>
                  </a:lnTo>
                  <a:cubicBezTo>
                    <a:pt x="22225" y="744093"/>
                    <a:pt x="0" y="721868"/>
                    <a:pt x="0" y="694563"/>
                  </a:cubicBezTo>
                  <a:close/>
                </a:path>
              </a:pathLst>
            </a:custGeom>
            <a:solidFill>
              <a:srgbClr val="3A3B3C"/>
            </a:solidFill>
          </p:spPr>
        </p:sp>
      </p:grpSp>
      <p:sp>
        <p:nvSpPr>
          <p:cNvPr name="TextBox 17" id="17"/>
          <p:cNvSpPr txBox="true"/>
          <p:nvPr/>
        </p:nvSpPr>
        <p:spPr>
          <a:xfrm rot="0">
            <a:off x="9972675" y="2046903"/>
            <a:ext cx="372066" cy="407937"/>
          </a:xfrm>
          <a:prstGeom prst="rect">
            <a:avLst/>
          </a:prstGeom>
        </p:spPr>
        <p:txBody>
          <a:bodyPr anchor="t" rtlCol="false" tIns="0" lIns="0" bIns="0" rIns="0">
            <a:spAutoFit/>
          </a:bodyPr>
          <a:lstStyle/>
          <a:p>
            <a:pPr algn="ctr" rtl="true">
              <a:lnSpc>
                <a:spcPts val="2874"/>
              </a:lnSpc>
            </a:pPr>
            <a:r>
              <a:rPr lang="en-US" sz="2874">
                <a:solidFill>
                  <a:srgbClr val="CFCBBF"/>
                </a:solidFill>
                <a:latin typeface="Prata"/>
                <a:ea typeface="Prata"/>
                <a:cs typeface="Prata"/>
                <a:sym typeface="Prata"/>
              </a:rPr>
              <a:t>1</a:t>
            </a:r>
          </a:p>
        </p:txBody>
      </p:sp>
      <p:sp>
        <p:nvSpPr>
          <p:cNvPr name="TextBox 18" id="18"/>
          <p:cNvSpPr txBox="true"/>
          <p:nvPr/>
        </p:nvSpPr>
        <p:spPr>
          <a:xfrm rot="0">
            <a:off x="5404542" y="2028530"/>
            <a:ext cx="3513687"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العصر الأموي (</a:t>
            </a:r>
            <a:r>
              <a:rPr lang="en-US" sz="2437">
                <a:solidFill>
                  <a:srgbClr val="CFCBBF"/>
                </a:solidFill>
                <a:latin typeface="Prata"/>
                <a:ea typeface="Prata"/>
                <a:cs typeface="Prata"/>
                <a:sym typeface="Prata"/>
              </a:rPr>
              <a:t>641</a:t>
            </a:r>
            <a:r>
              <a:rPr lang="ar-EG" sz="2437">
                <a:solidFill>
                  <a:srgbClr val="CFCBBF"/>
                </a:solidFill>
                <a:latin typeface="Prata"/>
                <a:ea typeface="Prata"/>
                <a:cs typeface="Prata"/>
                <a:sym typeface="Prata"/>
                <a:rtl val="true"/>
              </a:rPr>
              <a:t> – </a:t>
            </a:r>
            <a:r>
              <a:rPr lang="en-US" sz="2437">
                <a:solidFill>
                  <a:srgbClr val="CFCBBF"/>
                </a:solidFill>
                <a:latin typeface="Prata"/>
                <a:ea typeface="Prata"/>
                <a:cs typeface="Prata"/>
                <a:sym typeface="Prata"/>
              </a:rPr>
              <a:t>750</a:t>
            </a:r>
            <a:r>
              <a:rPr lang="ar-EG" sz="2437">
                <a:solidFill>
                  <a:srgbClr val="CFCBBF"/>
                </a:solidFill>
                <a:latin typeface="Prata"/>
                <a:ea typeface="Prata"/>
                <a:cs typeface="Prata"/>
                <a:sym typeface="Prata"/>
                <a:rtl val="true"/>
              </a:rPr>
              <a:t> م)</a:t>
            </a:r>
          </a:p>
        </p:txBody>
      </p:sp>
      <p:sp>
        <p:nvSpPr>
          <p:cNvPr name="TextBox 19" id="19"/>
          <p:cNvSpPr txBox="true"/>
          <p:nvPr/>
        </p:nvSpPr>
        <p:spPr>
          <a:xfrm rot="0">
            <a:off x="992238" y="2479329"/>
            <a:ext cx="7925991"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بدأت الإدارة الإسلامية في مصر، وتم تأسيس مدينة الفسطاط كعاصمة جديدة للبلاد، لتكون مركزًا للحكم الإسلامي.</a:t>
            </a:r>
          </a:p>
        </p:txBody>
      </p:sp>
      <p:grpSp>
        <p:nvGrpSpPr>
          <p:cNvPr name="Group 20" id="20"/>
          <p:cNvGrpSpPr/>
          <p:nvPr/>
        </p:nvGrpSpPr>
        <p:grpSpPr>
          <a:xfrm rot="0">
            <a:off x="9164088" y="4119715"/>
            <a:ext cx="744141" cy="28575"/>
            <a:chOff x="0" y="0"/>
            <a:chExt cx="992188" cy="38100"/>
          </a:xfrm>
        </p:grpSpPr>
        <p:sp>
          <p:nvSpPr>
            <p:cNvPr name="Freeform 21" id="21"/>
            <p:cNvSpPr/>
            <p:nvPr/>
          </p:nvSpPr>
          <p:spPr>
            <a:xfrm flipH="false" flipV="false" rot="0">
              <a:off x="0" y="0"/>
              <a:ext cx="992251" cy="38100"/>
            </a:xfrm>
            <a:custGeom>
              <a:avLst/>
              <a:gdLst/>
              <a:ahLst/>
              <a:cxnLst/>
              <a:rect r="r" b="b" t="t" l="l"/>
              <a:pathLst>
                <a:path h="38100" w="992251">
                  <a:moveTo>
                    <a:pt x="0" y="19050"/>
                  </a:moveTo>
                  <a:cubicBezTo>
                    <a:pt x="0" y="8509"/>
                    <a:pt x="8509" y="0"/>
                    <a:pt x="19050" y="0"/>
                  </a:cubicBezTo>
                  <a:lnTo>
                    <a:pt x="973201" y="0"/>
                  </a:lnTo>
                  <a:cubicBezTo>
                    <a:pt x="983742" y="0"/>
                    <a:pt x="992251" y="8509"/>
                    <a:pt x="992251" y="19050"/>
                  </a:cubicBezTo>
                  <a:cubicBezTo>
                    <a:pt x="992251" y="29591"/>
                    <a:pt x="983615" y="38100"/>
                    <a:pt x="973201" y="38100"/>
                  </a:cubicBezTo>
                  <a:lnTo>
                    <a:pt x="19050" y="38100"/>
                  </a:lnTo>
                  <a:cubicBezTo>
                    <a:pt x="8509" y="38100"/>
                    <a:pt x="0" y="29591"/>
                    <a:pt x="0" y="19050"/>
                  </a:cubicBezTo>
                  <a:close/>
                </a:path>
              </a:pathLst>
            </a:custGeom>
            <a:solidFill>
              <a:srgbClr val="535455"/>
            </a:solidFill>
          </p:spPr>
        </p:sp>
      </p:grpSp>
      <p:grpSp>
        <p:nvGrpSpPr>
          <p:cNvPr name="Group 22" id="22"/>
          <p:cNvGrpSpPr/>
          <p:nvPr/>
        </p:nvGrpSpPr>
        <p:grpSpPr>
          <a:xfrm rot="0">
            <a:off x="9879654" y="3854948"/>
            <a:ext cx="558108" cy="558108"/>
            <a:chOff x="0" y="0"/>
            <a:chExt cx="744144" cy="744144"/>
          </a:xfrm>
        </p:grpSpPr>
        <p:sp>
          <p:nvSpPr>
            <p:cNvPr name="Freeform 23" id="23"/>
            <p:cNvSpPr/>
            <p:nvPr/>
          </p:nvSpPr>
          <p:spPr>
            <a:xfrm flipH="false" flipV="false" rot="0">
              <a:off x="0" y="0"/>
              <a:ext cx="744220" cy="744220"/>
            </a:xfrm>
            <a:custGeom>
              <a:avLst/>
              <a:gdLst/>
              <a:ahLst/>
              <a:cxnLst/>
              <a:rect r="r" b="b" t="t" l="l"/>
              <a:pathLst>
                <a:path h="744220" w="744220">
                  <a:moveTo>
                    <a:pt x="0" y="49657"/>
                  </a:moveTo>
                  <a:cubicBezTo>
                    <a:pt x="0" y="22225"/>
                    <a:pt x="22225" y="0"/>
                    <a:pt x="49657" y="0"/>
                  </a:cubicBezTo>
                  <a:lnTo>
                    <a:pt x="694563" y="0"/>
                  </a:lnTo>
                  <a:cubicBezTo>
                    <a:pt x="721995" y="0"/>
                    <a:pt x="744220" y="22225"/>
                    <a:pt x="744220" y="49657"/>
                  </a:cubicBezTo>
                  <a:lnTo>
                    <a:pt x="744220" y="694563"/>
                  </a:lnTo>
                  <a:cubicBezTo>
                    <a:pt x="744220" y="721995"/>
                    <a:pt x="721995" y="744220"/>
                    <a:pt x="694563" y="744220"/>
                  </a:cubicBezTo>
                  <a:lnTo>
                    <a:pt x="49657" y="744220"/>
                  </a:lnTo>
                  <a:cubicBezTo>
                    <a:pt x="22225" y="744093"/>
                    <a:pt x="0" y="721868"/>
                    <a:pt x="0" y="694563"/>
                  </a:cubicBezTo>
                  <a:close/>
                </a:path>
              </a:pathLst>
            </a:custGeom>
            <a:solidFill>
              <a:srgbClr val="3A3B3C"/>
            </a:solidFill>
          </p:spPr>
        </p:sp>
      </p:grpSp>
      <p:sp>
        <p:nvSpPr>
          <p:cNvPr name="TextBox 24" id="24"/>
          <p:cNvSpPr txBox="true"/>
          <p:nvPr/>
        </p:nvSpPr>
        <p:spPr>
          <a:xfrm rot="0">
            <a:off x="9972675" y="3958609"/>
            <a:ext cx="372066" cy="407937"/>
          </a:xfrm>
          <a:prstGeom prst="rect">
            <a:avLst/>
          </a:prstGeom>
        </p:spPr>
        <p:txBody>
          <a:bodyPr anchor="t" rtlCol="false" tIns="0" lIns="0" bIns="0" rIns="0">
            <a:spAutoFit/>
          </a:bodyPr>
          <a:lstStyle/>
          <a:p>
            <a:pPr algn="ctr" rtl="true">
              <a:lnSpc>
                <a:spcPts val="2874"/>
              </a:lnSpc>
            </a:pPr>
            <a:r>
              <a:rPr lang="en-US" sz="2874">
                <a:solidFill>
                  <a:srgbClr val="CFCBBF"/>
                </a:solidFill>
                <a:latin typeface="Prata"/>
                <a:ea typeface="Prata"/>
                <a:cs typeface="Prata"/>
                <a:sym typeface="Prata"/>
              </a:rPr>
              <a:t>2</a:t>
            </a:r>
          </a:p>
        </p:txBody>
      </p:sp>
      <p:sp>
        <p:nvSpPr>
          <p:cNvPr name="TextBox 25" id="25"/>
          <p:cNvSpPr txBox="true"/>
          <p:nvPr/>
        </p:nvSpPr>
        <p:spPr>
          <a:xfrm rot="0">
            <a:off x="5106438" y="3940226"/>
            <a:ext cx="3811791"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العصر العباسي (</a:t>
            </a:r>
            <a:r>
              <a:rPr lang="en-US" sz="2437">
                <a:solidFill>
                  <a:srgbClr val="CFCBBF"/>
                </a:solidFill>
                <a:latin typeface="Prata"/>
                <a:ea typeface="Prata"/>
                <a:cs typeface="Prata"/>
                <a:sym typeface="Prata"/>
              </a:rPr>
              <a:t>750</a:t>
            </a:r>
            <a:r>
              <a:rPr lang="ar-EG" sz="2437">
                <a:solidFill>
                  <a:srgbClr val="CFCBBF"/>
                </a:solidFill>
                <a:latin typeface="Prata"/>
                <a:ea typeface="Prata"/>
                <a:cs typeface="Prata"/>
                <a:sym typeface="Prata"/>
                <a:rtl val="true"/>
              </a:rPr>
              <a:t> – </a:t>
            </a:r>
            <a:r>
              <a:rPr lang="en-US" sz="2437">
                <a:solidFill>
                  <a:srgbClr val="CFCBBF"/>
                </a:solidFill>
                <a:latin typeface="Prata"/>
                <a:ea typeface="Prata"/>
                <a:cs typeface="Prata"/>
                <a:sym typeface="Prata"/>
              </a:rPr>
              <a:t>868</a:t>
            </a:r>
            <a:r>
              <a:rPr lang="ar-EG" sz="2437">
                <a:solidFill>
                  <a:srgbClr val="CFCBBF"/>
                </a:solidFill>
                <a:latin typeface="Prata"/>
                <a:ea typeface="Prata"/>
                <a:cs typeface="Prata"/>
                <a:sym typeface="Prata"/>
                <a:rtl val="true"/>
              </a:rPr>
              <a:t> م)</a:t>
            </a:r>
          </a:p>
        </p:txBody>
      </p:sp>
      <p:sp>
        <p:nvSpPr>
          <p:cNvPr name="TextBox 26" id="26"/>
          <p:cNvSpPr txBox="true"/>
          <p:nvPr/>
        </p:nvSpPr>
        <p:spPr>
          <a:xfrm rot="0">
            <a:off x="992238" y="4391025"/>
            <a:ext cx="7925991"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حكمت مصر من بغداد، وشهدت هذه الفترة ظهور ولاة أقوياء في مصر، مما أدى إلى استقرار نسبي وتطور في بعض المجالات.</a:t>
            </a:r>
          </a:p>
        </p:txBody>
      </p:sp>
      <p:grpSp>
        <p:nvGrpSpPr>
          <p:cNvPr name="Group 27" id="27"/>
          <p:cNvGrpSpPr/>
          <p:nvPr/>
        </p:nvGrpSpPr>
        <p:grpSpPr>
          <a:xfrm rot="0">
            <a:off x="9164088" y="6031411"/>
            <a:ext cx="744141" cy="28575"/>
            <a:chOff x="0" y="0"/>
            <a:chExt cx="992188" cy="38100"/>
          </a:xfrm>
        </p:grpSpPr>
        <p:sp>
          <p:nvSpPr>
            <p:cNvPr name="Freeform 28" id="28"/>
            <p:cNvSpPr/>
            <p:nvPr/>
          </p:nvSpPr>
          <p:spPr>
            <a:xfrm flipH="false" flipV="false" rot="0">
              <a:off x="0" y="0"/>
              <a:ext cx="992251" cy="38100"/>
            </a:xfrm>
            <a:custGeom>
              <a:avLst/>
              <a:gdLst/>
              <a:ahLst/>
              <a:cxnLst/>
              <a:rect r="r" b="b" t="t" l="l"/>
              <a:pathLst>
                <a:path h="38100" w="992251">
                  <a:moveTo>
                    <a:pt x="0" y="19050"/>
                  </a:moveTo>
                  <a:cubicBezTo>
                    <a:pt x="0" y="8509"/>
                    <a:pt x="8509" y="0"/>
                    <a:pt x="19050" y="0"/>
                  </a:cubicBezTo>
                  <a:lnTo>
                    <a:pt x="973201" y="0"/>
                  </a:lnTo>
                  <a:cubicBezTo>
                    <a:pt x="983742" y="0"/>
                    <a:pt x="992251" y="8509"/>
                    <a:pt x="992251" y="19050"/>
                  </a:cubicBezTo>
                  <a:cubicBezTo>
                    <a:pt x="992251" y="29591"/>
                    <a:pt x="983615" y="38100"/>
                    <a:pt x="973201" y="38100"/>
                  </a:cubicBezTo>
                  <a:lnTo>
                    <a:pt x="19050" y="38100"/>
                  </a:lnTo>
                  <a:cubicBezTo>
                    <a:pt x="8509" y="38100"/>
                    <a:pt x="0" y="29591"/>
                    <a:pt x="0" y="19050"/>
                  </a:cubicBezTo>
                  <a:close/>
                </a:path>
              </a:pathLst>
            </a:custGeom>
            <a:solidFill>
              <a:srgbClr val="535455"/>
            </a:solidFill>
          </p:spPr>
        </p:sp>
      </p:grpSp>
      <p:grpSp>
        <p:nvGrpSpPr>
          <p:cNvPr name="Group 29" id="29"/>
          <p:cNvGrpSpPr/>
          <p:nvPr/>
        </p:nvGrpSpPr>
        <p:grpSpPr>
          <a:xfrm rot="0">
            <a:off x="9879654" y="5766645"/>
            <a:ext cx="558108" cy="558108"/>
            <a:chOff x="0" y="0"/>
            <a:chExt cx="744144" cy="744144"/>
          </a:xfrm>
        </p:grpSpPr>
        <p:sp>
          <p:nvSpPr>
            <p:cNvPr name="Freeform 30" id="30"/>
            <p:cNvSpPr/>
            <p:nvPr/>
          </p:nvSpPr>
          <p:spPr>
            <a:xfrm flipH="false" flipV="false" rot="0">
              <a:off x="0" y="0"/>
              <a:ext cx="744220" cy="744220"/>
            </a:xfrm>
            <a:custGeom>
              <a:avLst/>
              <a:gdLst/>
              <a:ahLst/>
              <a:cxnLst/>
              <a:rect r="r" b="b" t="t" l="l"/>
              <a:pathLst>
                <a:path h="744220" w="744220">
                  <a:moveTo>
                    <a:pt x="0" y="49657"/>
                  </a:moveTo>
                  <a:cubicBezTo>
                    <a:pt x="0" y="22225"/>
                    <a:pt x="22225" y="0"/>
                    <a:pt x="49657" y="0"/>
                  </a:cubicBezTo>
                  <a:lnTo>
                    <a:pt x="694563" y="0"/>
                  </a:lnTo>
                  <a:cubicBezTo>
                    <a:pt x="721995" y="0"/>
                    <a:pt x="744220" y="22225"/>
                    <a:pt x="744220" y="49657"/>
                  </a:cubicBezTo>
                  <a:lnTo>
                    <a:pt x="744220" y="694563"/>
                  </a:lnTo>
                  <a:cubicBezTo>
                    <a:pt x="744220" y="721995"/>
                    <a:pt x="721995" y="744220"/>
                    <a:pt x="694563" y="744220"/>
                  </a:cubicBezTo>
                  <a:lnTo>
                    <a:pt x="49657" y="744220"/>
                  </a:lnTo>
                  <a:cubicBezTo>
                    <a:pt x="22225" y="744093"/>
                    <a:pt x="0" y="721868"/>
                    <a:pt x="0" y="694563"/>
                  </a:cubicBezTo>
                  <a:close/>
                </a:path>
              </a:pathLst>
            </a:custGeom>
            <a:solidFill>
              <a:srgbClr val="3A3B3C"/>
            </a:solidFill>
          </p:spPr>
        </p:sp>
      </p:grpSp>
      <p:sp>
        <p:nvSpPr>
          <p:cNvPr name="TextBox 31" id="31"/>
          <p:cNvSpPr txBox="true"/>
          <p:nvPr/>
        </p:nvSpPr>
        <p:spPr>
          <a:xfrm rot="0">
            <a:off x="9972675" y="5870305"/>
            <a:ext cx="372066" cy="407937"/>
          </a:xfrm>
          <a:prstGeom prst="rect">
            <a:avLst/>
          </a:prstGeom>
        </p:spPr>
        <p:txBody>
          <a:bodyPr anchor="t" rtlCol="false" tIns="0" lIns="0" bIns="0" rIns="0">
            <a:spAutoFit/>
          </a:bodyPr>
          <a:lstStyle/>
          <a:p>
            <a:pPr algn="ctr" rtl="true">
              <a:lnSpc>
                <a:spcPts val="2874"/>
              </a:lnSpc>
            </a:pPr>
            <a:r>
              <a:rPr lang="en-US" sz="2874">
                <a:solidFill>
                  <a:srgbClr val="CFCBBF"/>
                </a:solidFill>
                <a:latin typeface="Prata"/>
                <a:ea typeface="Prata"/>
                <a:cs typeface="Prata"/>
                <a:sym typeface="Prata"/>
              </a:rPr>
              <a:t>3</a:t>
            </a:r>
          </a:p>
        </p:txBody>
      </p:sp>
      <p:sp>
        <p:nvSpPr>
          <p:cNvPr name="TextBox 32" id="32"/>
          <p:cNvSpPr txBox="true"/>
          <p:nvPr/>
        </p:nvSpPr>
        <p:spPr>
          <a:xfrm rot="0">
            <a:off x="4317654" y="5851922"/>
            <a:ext cx="4600575"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الطولونية والإخشيدية (</a:t>
            </a:r>
            <a:r>
              <a:rPr lang="en-US" sz="2437">
                <a:solidFill>
                  <a:srgbClr val="CFCBBF"/>
                </a:solidFill>
                <a:latin typeface="Prata"/>
                <a:ea typeface="Prata"/>
                <a:cs typeface="Prata"/>
                <a:sym typeface="Prata"/>
              </a:rPr>
              <a:t>868</a:t>
            </a:r>
            <a:r>
              <a:rPr lang="ar-EG" sz="2437">
                <a:solidFill>
                  <a:srgbClr val="CFCBBF"/>
                </a:solidFill>
                <a:latin typeface="Prata"/>
                <a:ea typeface="Prata"/>
                <a:cs typeface="Prata"/>
                <a:sym typeface="Prata"/>
                <a:rtl val="true"/>
              </a:rPr>
              <a:t> – </a:t>
            </a:r>
            <a:r>
              <a:rPr lang="en-US" sz="2437">
                <a:solidFill>
                  <a:srgbClr val="CFCBBF"/>
                </a:solidFill>
                <a:latin typeface="Prata"/>
                <a:ea typeface="Prata"/>
                <a:cs typeface="Prata"/>
                <a:sym typeface="Prata"/>
              </a:rPr>
              <a:t>969</a:t>
            </a:r>
            <a:r>
              <a:rPr lang="ar-EG" sz="2437">
                <a:solidFill>
                  <a:srgbClr val="CFCBBF"/>
                </a:solidFill>
                <a:latin typeface="Prata"/>
                <a:ea typeface="Prata"/>
                <a:cs typeface="Prata"/>
                <a:sym typeface="Prata"/>
                <a:rtl val="true"/>
              </a:rPr>
              <a:t> م)</a:t>
            </a:r>
          </a:p>
        </p:txBody>
      </p:sp>
      <p:sp>
        <p:nvSpPr>
          <p:cNvPr name="TextBox 33" id="33"/>
          <p:cNvSpPr txBox="true"/>
          <p:nvPr/>
        </p:nvSpPr>
        <p:spPr>
          <a:xfrm rot="0">
            <a:off x="992238" y="6302721"/>
            <a:ext cx="7925991"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مثلت هذه الدول أول شبه استقلال لمصر عن الخلافة العباسية، وشهدت بناء مسجد أحمد بن طولون، الذي يعد تحفة معمارية إسلامية.</a:t>
            </a:r>
          </a:p>
        </p:txBody>
      </p:sp>
      <p:grpSp>
        <p:nvGrpSpPr>
          <p:cNvPr name="Group 34" id="34"/>
          <p:cNvGrpSpPr/>
          <p:nvPr/>
        </p:nvGrpSpPr>
        <p:grpSpPr>
          <a:xfrm rot="0">
            <a:off x="9164088" y="7943107"/>
            <a:ext cx="744141" cy="28575"/>
            <a:chOff x="0" y="0"/>
            <a:chExt cx="992188" cy="38100"/>
          </a:xfrm>
        </p:grpSpPr>
        <p:sp>
          <p:nvSpPr>
            <p:cNvPr name="Freeform 35" id="35"/>
            <p:cNvSpPr/>
            <p:nvPr/>
          </p:nvSpPr>
          <p:spPr>
            <a:xfrm flipH="false" flipV="false" rot="0">
              <a:off x="0" y="0"/>
              <a:ext cx="992251" cy="38100"/>
            </a:xfrm>
            <a:custGeom>
              <a:avLst/>
              <a:gdLst/>
              <a:ahLst/>
              <a:cxnLst/>
              <a:rect r="r" b="b" t="t" l="l"/>
              <a:pathLst>
                <a:path h="38100" w="992251">
                  <a:moveTo>
                    <a:pt x="0" y="19050"/>
                  </a:moveTo>
                  <a:cubicBezTo>
                    <a:pt x="0" y="8509"/>
                    <a:pt x="8509" y="0"/>
                    <a:pt x="19050" y="0"/>
                  </a:cubicBezTo>
                  <a:lnTo>
                    <a:pt x="973201" y="0"/>
                  </a:lnTo>
                  <a:cubicBezTo>
                    <a:pt x="983742" y="0"/>
                    <a:pt x="992251" y="8509"/>
                    <a:pt x="992251" y="19050"/>
                  </a:cubicBezTo>
                  <a:cubicBezTo>
                    <a:pt x="992251" y="29591"/>
                    <a:pt x="983615" y="38100"/>
                    <a:pt x="973201" y="38100"/>
                  </a:cubicBezTo>
                  <a:lnTo>
                    <a:pt x="19050" y="38100"/>
                  </a:lnTo>
                  <a:cubicBezTo>
                    <a:pt x="8509" y="38100"/>
                    <a:pt x="0" y="29591"/>
                    <a:pt x="0" y="19050"/>
                  </a:cubicBezTo>
                  <a:close/>
                </a:path>
              </a:pathLst>
            </a:custGeom>
            <a:solidFill>
              <a:srgbClr val="535455"/>
            </a:solidFill>
          </p:spPr>
        </p:sp>
      </p:grpSp>
      <p:grpSp>
        <p:nvGrpSpPr>
          <p:cNvPr name="Group 36" id="36"/>
          <p:cNvGrpSpPr/>
          <p:nvPr/>
        </p:nvGrpSpPr>
        <p:grpSpPr>
          <a:xfrm rot="0">
            <a:off x="9879654" y="7678341"/>
            <a:ext cx="558108" cy="558108"/>
            <a:chOff x="0" y="0"/>
            <a:chExt cx="744144" cy="744144"/>
          </a:xfrm>
        </p:grpSpPr>
        <p:sp>
          <p:nvSpPr>
            <p:cNvPr name="Freeform 37" id="37"/>
            <p:cNvSpPr/>
            <p:nvPr/>
          </p:nvSpPr>
          <p:spPr>
            <a:xfrm flipH="false" flipV="false" rot="0">
              <a:off x="0" y="0"/>
              <a:ext cx="744220" cy="744220"/>
            </a:xfrm>
            <a:custGeom>
              <a:avLst/>
              <a:gdLst/>
              <a:ahLst/>
              <a:cxnLst/>
              <a:rect r="r" b="b" t="t" l="l"/>
              <a:pathLst>
                <a:path h="744220" w="744220">
                  <a:moveTo>
                    <a:pt x="0" y="49657"/>
                  </a:moveTo>
                  <a:cubicBezTo>
                    <a:pt x="0" y="22225"/>
                    <a:pt x="22225" y="0"/>
                    <a:pt x="49657" y="0"/>
                  </a:cubicBezTo>
                  <a:lnTo>
                    <a:pt x="694563" y="0"/>
                  </a:lnTo>
                  <a:cubicBezTo>
                    <a:pt x="721995" y="0"/>
                    <a:pt x="744220" y="22225"/>
                    <a:pt x="744220" y="49657"/>
                  </a:cubicBezTo>
                  <a:lnTo>
                    <a:pt x="744220" y="694563"/>
                  </a:lnTo>
                  <a:cubicBezTo>
                    <a:pt x="744220" y="721995"/>
                    <a:pt x="721995" y="744220"/>
                    <a:pt x="694563" y="744220"/>
                  </a:cubicBezTo>
                  <a:lnTo>
                    <a:pt x="49657" y="744220"/>
                  </a:lnTo>
                  <a:cubicBezTo>
                    <a:pt x="22225" y="744093"/>
                    <a:pt x="0" y="721868"/>
                    <a:pt x="0" y="694563"/>
                  </a:cubicBezTo>
                  <a:close/>
                </a:path>
              </a:pathLst>
            </a:custGeom>
            <a:solidFill>
              <a:srgbClr val="3A3B3C"/>
            </a:solidFill>
          </p:spPr>
        </p:sp>
      </p:grpSp>
      <p:sp>
        <p:nvSpPr>
          <p:cNvPr name="TextBox 38" id="38"/>
          <p:cNvSpPr txBox="true"/>
          <p:nvPr/>
        </p:nvSpPr>
        <p:spPr>
          <a:xfrm rot="0">
            <a:off x="9972675" y="7782001"/>
            <a:ext cx="372066" cy="407937"/>
          </a:xfrm>
          <a:prstGeom prst="rect">
            <a:avLst/>
          </a:prstGeom>
        </p:spPr>
        <p:txBody>
          <a:bodyPr anchor="t" rtlCol="false" tIns="0" lIns="0" bIns="0" rIns="0">
            <a:spAutoFit/>
          </a:bodyPr>
          <a:lstStyle/>
          <a:p>
            <a:pPr algn="ctr" rtl="true">
              <a:lnSpc>
                <a:spcPts val="2874"/>
              </a:lnSpc>
            </a:pPr>
            <a:r>
              <a:rPr lang="en-US" sz="2874">
                <a:solidFill>
                  <a:srgbClr val="CFCBBF"/>
                </a:solidFill>
                <a:latin typeface="Prata"/>
                <a:ea typeface="Prata"/>
                <a:cs typeface="Prata"/>
                <a:sym typeface="Prata"/>
              </a:rPr>
              <a:t>4</a:t>
            </a:r>
          </a:p>
        </p:txBody>
      </p:sp>
      <p:sp>
        <p:nvSpPr>
          <p:cNvPr name="TextBox 39" id="39"/>
          <p:cNvSpPr txBox="true"/>
          <p:nvPr/>
        </p:nvSpPr>
        <p:spPr>
          <a:xfrm rot="0">
            <a:off x="5162550" y="7763618"/>
            <a:ext cx="3755679"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الدولة الفاطمية (</a:t>
            </a:r>
            <a:r>
              <a:rPr lang="en-US" sz="2437">
                <a:solidFill>
                  <a:srgbClr val="CFCBBF"/>
                </a:solidFill>
                <a:latin typeface="Prata"/>
                <a:ea typeface="Prata"/>
                <a:cs typeface="Prata"/>
                <a:sym typeface="Prata"/>
              </a:rPr>
              <a:t>969</a:t>
            </a:r>
            <a:r>
              <a:rPr lang="ar-EG" sz="2437">
                <a:solidFill>
                  <a:srgbClr val="CFCBBF"/>
                </a:solidFill>
                <a:latin typeface="Prata"/>
                <a:ea typeface="Prata"/>
                <a:cs typeface="Prata"/>
                <a:sym typeface="Prata"/>
                <a:rtl val="true"/>
              </a:rPr>
              <a:t> – </a:t>
            </a:r>
            <a:r>
              <a:rPr lang="en-US" sz="2437">
                <a:solidFill>
                  <a:srgbClr val="CFCBBF"/>
                </a:solidFill>
                <a:latin typeface="Prata"/>
                <a:ea typeface="Prata"/>
                <a:cs typeface="Prata"/>
                <a:sym typeface="Prata"/>
              </a:rPr>
              <a:t>1171</a:t>
            </a:r>
            <a:r>
              <a:rPr lang="ar-EG" sz="2437">
                <a:solidFill>
                  <a:srgbClr val="CFCBBF"/>
                </a:solidFill>
                <a:latin typeface="Prata"/>
                <a:ea typeface="Prata"/>
                <a:cs typeface="Prata"/>
                <a:sym typeface="Prata"/>
                <a:rtl val="true"/>
              </a:rPr>
              <a:t> م)</a:t>
            </a:r>
          </a:p>
        </p:txBody>
      </p:sp>
      <p:sp>
        <p:nvSpPr>
          <p:cNvPr name="TextBox 40" id="40"/>
          <p:cNvSpPr txBox="true"/>
          <p:nvPr/>
        </p:nvSpPr>
        <p:spPr>
          <a:xfrm rot="0">
            <a:off x="992238" y="8214417"/>
            <a:ext cx="7925991"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تأسست القاهرة وبُني الأزهر الشريف، الذي أصبح منارة للعلم الإسلامي. شهدت الدولة الفاطمية قوة سياسية وتجارية كبيرة، وامتد نفوذها ليشمل أجزاء واسعة من شمال إفريقيا والشام.</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6049015" y="9686925"/>
            <a:ext cx="2153260" cy="514350"/>
            <a:chOff x="0" y="0"/>
            <a:chExt cx="2871013" cy="685800"/>
          </a:xfrm>
        </p:grpSpPr>
        <p:sp>
          <p:nvSpPr>
            <p:cNvPr name="Freeform 5" id="5"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sp>
        <p:nvSpPr>
          <p:cNvPr name="TextBox 8" id="8"/>
          <p:cNvSpPr txBox="true"/>
          <p:nvPr/>
        </p:nvSpPr>
        <p:spPr>
          <a:xfrm rot="0">
            <a:off x="6385027" y="1534420"/>
            <a:ext cx="10910735" cy="794147"/>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الدول الإسلامية في مصر: الأيوبيون والمماليك</a:t>
            </a:r>
          </a:p>
        </p:txBody>
      </p:sp>
      <p:grpSp>
        <p:nvGrpSpPr>
          <p:cNvPr name="Group 9" id="9"/>
          <p:cNvGrpSpPr/>
          <p:nvPr/>
        </p:nvGrpSpPr>
        <p:grpSpPr>
          <a:xfrm rot="0">
            <a:off x="12244388" y="2979687"/>
            <a:ext cx="5051374" cy="2886370"/>
            <a:chOff x="0" y="0"/>
            <a:chExt cx="6735166" cy="3848494"/>
          </a:xfrm>
        </p:grpSpPr>
        <p:sp>
          <p:nvSpPr>
            <p:cNvPr name="Freeform 10" id="10" descr="preencoded.png"/>
            <p:cNvSpPr/>
            <p:nvPr/>
          </p:nvSpPr>
          <p:spPr>
            <a:xfrm flipH="false" flipV="false" rot="0">
              <a:off x="0" y="0"/>
              <a:ext cx="6735191" cy="3848481"/>
            </a:xfrm>
            <a:custGeom>
              <a:avLst/>
              <a:gdLst/>
              <a:ahLst/>
              <a:cxnLst/>
              <a:rect r="r" b="b" t="t" l="l"/>
              <a:pathLst>
                <a:path h="3848481" w="6735191">
                  <a:moveTo>
                    <a:pt x="0" y="0"/>
                  </a:moveTo>
                  <a:lnTo>
                    <a:pt x="6735191" y="0"/>
                  </a:lnTo>
                  <a:lnTo>
                    <a:pt x="6735191" y="3848481"/>
                  </a:lnTo>
                  <a:lnTo>
                    <a:pt x="0" y="3848481"/>
                  </a:lnTo>
                  <a:lnTo>
                    <a:pt x="0" y="0"/>
                  </a:lnTo>
                  <a:close/>
                </a:path>
              </a:pathLst>
            </a:custGeom>
            <a:blipFill>
              <a:blip r:embed="rId6"/>
              <a:stretch>
                <a:fillRect l="0" t="-25" r="0" b="-26"/>
              </a:stretch>
            </a:blipFill>
          </p:spPr>
        </p:sp>
      </p:grpSp>
      <p:sp>
        <p:nvSpPr>
          <p:cNvPr name="TextBox 11" id="11"/>
          <p:cNvSpPr txBox="true"/>
          <p:nvPr/>
        </p:nvSpPr>
        <p:spPr>
          <a:xfrm rot="0">
            <a:off x="11467805" y="6126061"/>
            <a:ext cx="5827957" cy="639213"/>
          </a:xfrm>
          <a:prstGeom prst="rect">
            <a:avLst/>
          </a:prstGeom>
        </p:spPr>
        <p:txBody>
          <a:bodyPr anchor="t" rtlCol="false" tIns="0" lIns="0" bIns="0" rIns="0">
            <a:spAutoFit/>
          </a:bodyPr>
          <a:lstStyle/>
          <a:p>
            <a:pPr algn="r" rtl="true">
              <a:lnSpc>
                <a:spcPts val="4875"/>
              </a:lnSpc>
            </a:pPr>
            <a:r>
              <a:rPr lang="ar-EG" sz="3875">
                <a:solidFill>
                  <a:srgbClr val="F2E782"/>
                </a:solidFill>
                <a:latin typeface="Prata"/>
                <a:ea typeface="Prata"/>
                <a:cs typeface="Prata"/>
                <a:sym typeface="Prata"/>
                <a:rtl val="true"/>
              </a:rPr>
              <a:t>الدولة الأيوبية (</a:t>
            </a:r>
            <a:r>
              <a:rPr lang="en-US" sz="3875">
                <a:solidFill>
                  <a:srgbClr val="F2E782"/>
                </a:solidFill>
                <a:latin typeface="Prata"/>
                <a:ea typeface="Prata"/>
                <a:cs typeface="Prata"/>
                <a:sym typeface="Prata"/>
              </a:rPr>
              <a:t>1171</a:t>
            </a:r>
            <a:r>
              <a:rPr lang="ar-EG" sz="3875">
                <a:solidFill>
                  <a:srgbClr val="F2E782"/>
                </a:solidFill>
                <a:latin typeface="Prata"/>
                <a:ea typeface="Prata"/>
                <a:cs typeface="Prata"/>
                <a:sym typeface="Prata"/>
                <a:rtl val="true"/>
              </a:rPr>
              <a:t> – </a:t>
            </a:r>
            <a:r>
              <a:rPr lang="en-US" sz="3875">
                <a:solidFill>
                  <a:srgbClr val="F2E782"/>
                </a:solidFill>
                <a:latin typeface="Prata"/>
                <a:ea typeface="Prata"/>
                <a:cs typeface="Prata"/>
                <a:sym typeface="Prata"/>
              </a:rPr>
              <a:t>1250</a:t>
            </a:r>
            <a:r>
              <a:rPr lang="ar-EG" sz="3875">
                <a:solidFill>
                  <a:srgbClr val="F2E782"/>
                </a:solidFill>
                <a:latin typeface="Prata"/>
                <a:ea typeface="Prata"/>
                <a:cs typeface="Prata"/>
                <a:sym typeface="Prata"/>
                <a:rtl val="true"/>
              </a:rPr>
              <a:t> م)</a:t>
            </a:r>
          </a:p>
        </p:txBody>
      </p:sp>
      <p:sp>
        <p:nvSpPr>
          <p:cNvPr name="TextBox 12" id="12"/>
          <p:cNvSpPr txBox="true"/>
          <p:nvPr/>
        </p:nvSpPr>
        <p:spPr>
          <a:xfrm rot="0">
            <a:off x="9446571" y="6927504"/>
            <a:ext cx="7849191"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تأسست على يد صلاح الدين الأيوبي، الذي قاد المقاومة ضد الصليبيين وحرر القدس. شهدت هذه الفترة نهضة علمية وعمرانية، وازدهرت المدارس والمساجد.</a:t>
            </a:r>
          </a:p>
        </p:txBody>
      </p:sp>
      <p:grpSp>
        <p:nvGrpSpPr>
          <p:cNvPr name="Group 13" id="13"/>
          <p:cNvGrpSpPr/>
          <p:nvPr/>
        </p:nvGrpSpPr>
        <p:grpSpPr>
          <a:xfrm rot="0">
            <a:off x="3128667" y="2979687"/>
            <a:ext cx="5703246" cy="3192513"/>
            <a:chOff x="0" y="0"/>
            <a:chExt cx="7604328" cy="4256684"/>
          </a:xfrm>
        </p:grpSpPr>
        <p:sp>
          <p:nvSpPr>
            <p:cNvPr name="Freeform 14" id="14" descr="preencoded.png"/>
            <p:cNvSpPr/>
            <p:nvPr/>
          </p:nvSpPr>
          <p:spPr>
            <a:xfrm flipH="false" flipV="false" rot="0">
              <a:off x="0" y="0"/>
              <a:ext cx="7604379" cy="4256659"/>
            </a:xfrm>
            <a:custGeom>
              <a:avLst/>
              <a:gdLst/>
              <a:ahLst/>
              <a:cxnLst/>
              <a:rect r="r" b="b" t="t" l="l"/>
              <a:pathLst>
                <a:path h="4256659" w="7604379">
                  <a:moveTo>
                    <a:pt x="0" y="0"/>
                  </a:moveTo>
                  <a:lnTo>
                    <a:pt x="7604379" y="0"/>
                  </a:lnTo>
                  <a:lnTo>
                    <a:pt x="7604379" y="4256659"/>
                  </a:lnTo>
                  <a:lnTo>
                    <a:pt x="0" y="4256659"/>
                  </a:lnTo>
                  <a:lnTo>
                    <a:pt x="0" y="0"/>
                  </a:lnTo>
                  <a:close/>
                </a:path>
              </a:pathLst>
            </a:custGeom>
            <a:blipFill>
              <a:blip r:embed="rId7"/>
              <a:stretch>
                <a:fillRect l="-45" t="0" r="-44" b="0"/>
              </a:stretch>
            </a:blipFill>
          </p:spPr>
        </p:sp>
      </p:grpSp>
      <p:sp>
        <p:nvSpPr>
          <p:cNvPr name="TextBox 15" id="15"/>
          <p:cNvSpPr txBox="true"/>
          <p:nvPr/>
        </p:nvSpPr>
        <p:spPr>
          <a:xfrm rot="0">
            <a:off x="2761507" y="6432204"/>
            <a:ext cx="6070397" cy="639213"/>
          </a:xfrm>
          <a:prstGeom prst="rect">
            <a:avLst/>
          </a:prstGeom>
        </p:spPr>
        <p:txBody>
          <a:bodyPr anchor="t" rtlCol="false" tIns="0" lIns="0" bIns="0" rIns="0">
            <a:spAutoFit/>
          </a:bodyPr>
          <a:lstStyle/>
          <a:p>
            <a:pPr algn="r" rtl="true">
              <a:lnSpc>
                <a:spcPts val="4875"/>
              </a:lnSpc>
            </a:pPr>
            <a:r>
              <a:rPr lang="ar-EG" sz="3875">
                <a:solidFill>
                  <a:srgbClr val="F2E782"/>
                </a:solidFill>
                <a:latin typeface="Prata"/>
                <a:ea typeface="Prata"/>
                <a:cs typeface="Prata"/>
                <a:sym typeface="Prata"/>
                <a:rtl val="true"/>
              </a:rPr>
              <a:t>دولة المماليك (</a:t>
            </a:r>
            <a:r>
              <a:rPr lang="en-US" sz="3875">
                <a:solidFill>
                  <a:srgbClr val="F2E782"/>
                </a:solidFill>
                <a:latin typeface="Prata"/>
                <a:ea typeface="Prata"/>
                <a:cs typeface="Prata"/>
                <a:sym typeface="Prata"/>
              </a:rPr>
              <a:t>1250</a:t>
            </a:r>
            <a:r>
              <a:rPr lang="ar-EG" sz="3875">
                <a:solidFill>
                  <a:srgbClr val="F2E782"/>
                </a:solidFill>
                <a:latin typeface="Prata"/>
                <a:ea typeface="Prata"/>
                <a:cs typeface="Prata"/>
                <a:sym typeface="Prata"/>
                <a:rtl val="true"/>
              </a:rPr>
              <a:t> – </a:t>
            </a:r>
            <a:r>
              <a:rPr lang="en-US" sz="3875">
                <a:solidFill>
                  <a:srgbClr val="F2E782"/>
                </a:solidFill>
                <a:latin typeface="Prata"/>
                <a:ea typeface="Prata"/>
                <a:cs typeface="Prata"/>
                <a:sym typeface="Prata"/>
              </a:rPr>
              <a:t>1517</a:t>
            </a:r>
            <a:r>
              <a:rPr lang="ar-EG" sz="3875">
                <a:solidFill>
                  <a:srgbClr val="F2E782"/>
                </a:solidFill>
                <a:latin typeface="Prata"/>
                <a:ea typeface="Prata"/>
                <a:cs typeface="Prata"/>
                <a:sym typeface="Prata"/>
                <a:rtl val="true"/>
              </a:rPr>
              <a:t> م)</a:t>
            </a:r>
          </a:p>
        </p:txBody>
      </p:sp>
      <p:sp>
        <p:nvSpPr>
          <p:cNvPr name="TextBox 16" id="16"/>
          <p:cNvSpPr txBox="true"/>
          <p:nvPr/>
        </p:nvSpPr>
        <p:spPr>
          <a:xfrm rot="0">
            <a:off x="982713" y="7233647"/>
            <a:ext cx="7849191"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امتلك المماليك أقوى جيش في المنطقة، وحققوا انتصارات حاسمة على المغول في عين جالوت والصليبيين. شهدت هذه الفترة ازدهارًا تجاريًا كبيرًا، حيث كانت مصر مركزًا رئيسيًا للتجارة بين الشرق والغرب.</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1043578"/>
            <a:ext cx="9445523" cy="1569244"/>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مصر الحديثة: من العثمانيين إلى محمد علي</a:t>
            </a:r>
          </a:p>
        </p:txBody>
      </p:sp>
      <p:sp>
        <p:nvSpPr>
          <p:cNvPr name="TextBox 11" id="11"/>
          <p:cNvSpPr txBox="true"/>
          <p:nvPr/>
        </p:nvSpPr>
        <p:spPr>
          <a:xfrm rot="0">
            <a:off x="10189816" y="2908697"/>
            <a:ext cx="247945" cy="386210"/>
          </a:xfrm>
          <a:prstGeom prst="rect">
            <a:avLst/>
          </a:prstGeom>
        </p:spPr>
        <p:txBody>
          <a:bodyPr anchor="t" rtlCol="false" tIns="0" lIns="0" bIns="0" rIns="0">
            <a:spAutoFit/>
          </a:bodyPr>
          <a:lstStyle/>
          <a:p>
            <a:pPr algn="l" rtl="true">
              <a:lnSpc>
                <a:spcPts val="3125"/>
              </a:lnSpc>
            </a:pPr>
            <a:r>
              <a:rPr lang="en-US" sz="1937">
                <a:solidFill>
                  <a:srgbClr val="CFCBBF"/>
                </a:solidFill>
                <a:latin typeface="Prata"/>
                <a:ea typeface="Prata"/>
                <a:cs typeface="Prata"/>
                <a:sym typeface="Prata"/>
              </a:rPr>
              <a:t>01</a:t>
            </a:r>
          </a:p>
        </p:txBody>
      </p:sp>
      <p:grpSp>
        <p:nvGrpSpPr>
          <p:cNvPr name="Group 12" id="12"/>
          <p:cNvGrpSpPr/>
          <p:nvPr/>
        </p:nvGrpSpPr>
        <p:grpSpPr>
          <a:xfrm rot="0">
            <a:off x="5838977" y="3377803"/>
            <a:ext cx="4598784" cy="28575"/>
            <a:chOff x="0" y="0"/>
            <a:chExt cx="6131712" cy="38100"/>
          </a:xfrm>
        </p:grpSpPr>
        <p:sp>
          <p:nvSpPr>
            <p:cNvPr name="Freeform 13" id="13" descr="preencoded.png"/>
            <p:cNvSpPr/>
            <p:nvPr/>
          </p:nvSpPr>
          <p:spPr>
            <a:xfrm flipH="false" flipV="false" rot="0">
              <a:off x="0" y="0"/>
              <a:ext cx="6131687" cy="38100"/>
            </a:xfrm>
            <a:custGeom>
              <a:avLst/>
              <a:gdLst/>
              <a:ahLst/>
              <a:cxnLst/>
              <a:rect r="r" b="b" t="t" l="l"/>
              <a:pathLst>
                <a:path h="38100" w="6131687">
                  <a:moveTo>
                    <a:pt x="0" y="0"/>
                  </a:moveTo>
                  <a:lnTo>
                    <a:pt x="6131687" y="0"/>
                  </a:lnTo>
                  <a:lnTo>
                    <a:pt x="6131687" y="38100"/>
                  </a:lnTo>
                  <a:lnTo>
                    <a:pt x="0" y="38100"/>
                  </a:lnTo>
                  <a:lnTo>
                    <a:pt x="0" y="0"/>
                  </a:lnTo>
                  <a:close/>
                </a:path>
              </a:pathLst>
            </a:custGeom>
            <a:blipFill>
              <a:blip r:embed="rId7"/>
              <a:stretch>
                <a:fillRect l="-19" t="0" r="-19" b="0"/>
              </a:stretch>
            </a:blipFill>
          </p:spPr>
        </p:sp>
      </p:grpSp>
      <p:sp>
        <p:nvSpPr>
          <p:cNvPr name="TextBox 14" id="14"/>
          <p:cNvSpPr txBox="true"/>
          <p:nvPr/>
        </p:nvSpPr>
        <p:spPr>
          <a:xfrm rot="0">
            <a:off x="5838977" y="3539881"/>
            <a:ext cx="4598784" cy="949223"/>
          </a:xfrm>
          <a:prstGeom prst="rect">
            <a:avLst/>
          </a:prstGeom>
        </p:spPr>
        <p:txBody>
          <a:bodyPr anchor="t" rtlCol="false" tIns="0" lIns="0" bIns="0" rIns="0">
            <a:spAutoFit/>
          </a:bodyPr>
          <a:lstStyle/>
          <a:p>
            <a:pPr algn="r" rtl="true">
              <a:lnSpc>
                <a:spcPts val="3625"/>
              </a:lnSpc>
            </a:pPr>
            <a:r>
              <a:rPr lang="ar-EG" sz="2874">
                <a:solidFill>
                  <a:srgbClr val="CFCBBF"/>
                </a:solidFill>
                <a:latin typeface="Prata"/>
                <a:ea typeface="Prata"/>
                <a:cs typeface="Prata"/>
                <a:sym typeface="Prata"/>
                <a:rtl val="true"/>
              </a:rPr>
              <a:t>العصر العثماني (</a:t>
            </a:r>
            <a:r>
              <a:rPr lang="en-US" sz="2874">
                <a:solidFill>
                  <a:srgbClr val="CFCBBF"/>
                </a:solidFill>
                <a:latin typeface="Prata"/>
                <a:ea typeface="Prata"/>
                <a:cs typeface="Prata"/>
                <a:sym typeface="Prata"/>
              </a:rPr>
              <a:t>1517</a:t>
            </a:r>
            <a:r>
              <a:rPr lang="ar-EG" sz="2874">
                <a:solidFill>
                  <a:srgbClr val="CFCBBF"/>
                </a:solidFill>
                <a:latin typeface="Prata"/>
                <a:ea typeface="Prata"/>
                <a:cs typeface="Prata"/>
                <a:sym typeface="Prata"/>
                <a:rtl val="true"/>
              </a:rPr>
              <a:t> – </a:t>
            </a:r>
            <a:r>
              <a:rPr lang="en-US" sz="2874">
                <a:solidFill>
                  <a:srgbClr val="CFCBBF"/>
                </a:solidFill>
                <a:latin typeface="Prata"/>
                <a:ea typeface="Prata"/>
                <a:cs typeface="Prata"/>
                <a:sym typeface="Prata"/>
              </a:rPr>
              <a:t>1798</a:t>
            </a:r>
            <a:r>
              <a:rPr lang="ar-EG" sz="2874">
                <a:solidFill>
                  <a:srgbClr val="CFCBBF"/>
                </a:solidFill>
                <a:latin typeface="Prata"/>
                <a:ea typeface="Prata"/>
                <a:cs typeface="Prata"/>
                <a:sym typeface="Prata"/>
                <a:rtl val="true"/>
              </a:rPr>
              <a:t> م)</a:t>
            </a:r>
          </a:p>
        </p:txBody>
      </p:sp>
      <p:sp>
        <p:nvSpPr>
          <p:cNvPr name="TextBox 15" id="15"/>
          <p:cNvSpPr txBox="true"/>
          <p:nvPr/>
        </p:nvSpPr>
        <p:spPr>
          <a:xfrm rot="0">
            <a:off x="5838977" y="4552207"/>
            <a:ext cx="4598784"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أصبحت مصر ولاية تابعة للدولة العثمانية، ولكن ظل نفوذ المماليك قويًا داخل الحكم، مما أدى إلى صراعات داخلية.</a:t>
            </a:r>
          </a:p>
        </p:txBody>
      </p:sp>
      <p:sp>
        <p:nvSpPr>
          <p:cNvPr name="TextBox 16" id="16"/>
          <p:cNvSpPr txBox="true"/>
          <p:nvPr/>
        </p:nvSpPr>
        <p:spPr>
          <a:xfrm rot="0">
            <a:off x="5343077" y="2908697"/>
            <a:ext cx="247945" cy="386210"/>
          </a:xfrm>
          <a:prstGeom prst="rect">
            <a:avLst/>
          </a:prstGeom>
        </p:spPr>
        <p:txBody>
          <a:bodyPr anchor="t" rtlCol="false" tIns="0" lIns="0" bIns="0" rIns="0">
            <a:spAutoFit/>
          </a:bodyPr>
          <a:lstStyle/>
          <a:p>
            <a:pPr algn="l" rtl="true">
              <a:lnSpc>
                <a:spcPts val="3125"/>
              </a:lnSpc>
            </a:pPr>
            <a:r>
              <a:rPr lang="en-US" sz="1937">
                <a:solidFill>
                  <a:srgbClr val="CFCBBF"/>
                </a:solidFill>
                <a:latin typeface="Prata"/>
                <a:ea typeface="Prata"/>
                <a:cs typeface="Prata"/>
                <a:sym typeface="Prata"/>
              </a:rPr>
              <a:t>02</a:t>
            </a:r>
          </a:p>
        </p:txBody>
      </p:sp>
      <p:grpSp>
        <p:nvGrpSpPr>
          <p:cNvPr name="Group 17" id="17"/>
          <p:cNvGrpSpPr/>
          <p:nvPr/>
        </p:nvGrpSpPr>
        <p:grpSpPr>
          <a:xfrm rot="0">
            <a:off x="992238" y="3377803"/>
            <a:ext cx="4598784" cy="28575"/>
            <a:chOff x="0" y="0"/>
            <a:chExt cx="6131712" cy="38100"/>
          </a:xfrm>
        </p:grpSpPr>
        <p:sp>
          <p:nvSpPr>
            <p:cNvPr name="Freeform 18" id="18" descr="preencoded.png"/>
            <p:cNvSpPr/>
            <p:nvPr/>
          </p:nvSpPr>
          <p:spPr>
            <a:xfrm flipH="false" flipV="false" rot="0">
              <a:off x="0" y="0"/>
              <a:ext cx="6131687" cy="38100"/>
            </a:xfrm>
            <a:custGeom>
              <a:avLst/>
              <a:gdLst/>
              <a:ahLst/>
              <a:cxnLst/>
              <a:rect r="r" b="b" t="t" l="l"/>
              <a:pathLst>
                <a:path h="38100" w="6131687">
                  <a:moveTo>
                    <a:pt x="0" y="0"/>
                  </a:moveTo>
                  <a:lnTo>
                    <a:pt x="6131687" y="0"/>
                  </a:lnTo>
                  <a:lnTo>
                    <a:pt x="6131687" y="38100"/>
                  </a:lnTo>
                  <a:lnTo>
                    <a:pt x="0" y="38100"/>
                  </a:lnTo>
                  <a:lnTo>
                    <a:pt x="0" y="0"/>
                  </a:lnTo>
                  <a:close/>
                </a:path>
              </a:pathLst>
            </a:custGeom>
            <a:blipFill>
              <a:blip r:embed="rId7"/>
              <a:stretch>
                <a:fillRect l="-19" t="0" r="-19" b="0"/>
              </a:stretch>
            </a:blipFill>
          </p:spPr>
        </p:sp>
      </p:grpSp>
      <p:sp>
        <p:nvSpPr>
          <p:cNvPr name="TextBox 19" id="19"/>
          <p:cNvSpPr txBox="true"/>
          <p:nvPr/>
        </p:nvSpPr>
        <p:spPr>
          <a:xfrm rot="0">
            <a:off x="992238" y="3539881"/>
            <a:ext cx="4598784" cy="949223"/>
          </a:xfrm>
          <a:prstGeom prst="rect">
            <a:avLst/>
          </a:prstGeom>
        </p:spPr>
        <p:txBody>
          <a:bodyPr anchor="t" rtlCol="false" tIns="0" lIns="0" bIns="0" rIns="0">
            <a:spAutoFit/>
          </a:bodyPr>
          <a:lstStyle/>
          <a:p>
            <a:pPr algn="r" rtl="true">
              <a:lnSpc>
                <a:spcPts val="3625"/>
              </a:lnSpc>
            </a:pPr>
            <a:r>
              <a:rPr lang="ar-EG" sz="2874">
                <a:solidFill>
                  <a:srgbClr val="CFCBBF"/>
                </a:solidFill>
                <a:latin typeface="Prata"/>
                <a:ea typeface="Prata"/>
                <a:cs typeface="Prata"/>
                <a:sym typeface="Prata"/>
                <a:rtl val="true"/>
              </a:rPr>
              <a:t>الحملة الفرنسية (</a:t>
            </a:r>
            <a:r>
              <a:rPr lang="en-US" sz="2874">
                <a:solidFill>
                  <a:srgbClr val="CFCBBF"/>
                </a:solidFill>
                <a:latin typeface="Prata"/>
                <a:ea typeface="Prata"/>
                <a:cs typeface="Prata"/>
                <a:sym typeface="Prata"/>
              </a:rPr>
              <a:t>1798</a:t>
            </a:r>
            <a:r>
              <a:rPr lang="ar-EG" sz="2874">
                <a:solidFill>
                  <a:srgbClr val="CFCBBF"/>
                </a:solidFill>
                <a:latin typeface="Prata"/>
                <a:ea typeface="Prata"/>
                <a:cs typeface="Prata"/>
                <a:sym typeface="Prata"/>
                <a:rtl val="true"/>
              </a:rPr>
              <a:t> – </a:t>
            </a:r>
            <a:r>
              <a:rPr lang="en-US" sz="2874">
                <a:solidFill>
                  <a:srgbClr val="CFCBBF"/>
                </a:solidFill>
                <a:latin typeface="Prata"/>
                <a:ea typeface="Prata"/>
                <a:cs typeface="Prata"/>
                <a:sym typeface="Prata"/>
              </a:rPr>
              <a:t>1801</a:t>
            </a:r>
            <a:r>
              <a:rPr lang="ar-EG" sz="2874">
                <a:solidFill>
                  <a:srgbClr val="CFCBBF"/>
                </a:solidFill>
                <a:latin typeface="Prata"/>
                <a:ea typeface="Prata"/>
                <a:cs typeface="Prata"/>
                <a:sym typeface="Prata"/>
                <a:rtl val="true"/>
              </a:rPr>
              <a:t> م)</a:t>
            </a:r>
          </a:p>
        </p:txBody>
      </p:sp>
      <p:sp>
        <p:nvSpPr>
          <p:cNvPr name="TextBox 20" id="20"/>
          <p:cNvSpPr txBox="true"/>
          <p:nvPr/>
        </p:nvSpPr>
        <p:spPr>
          <a:xfrm rot="0">
            <a:off x="992238" y="4552207"/>
            <a:ext cx="4598784" cy="1673428"/>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كان وجودها قصيرًا لكنه مؤثر، حيث جلبت معها أفكار التحديث وأدت إلى اكتشافات علمية مهمة مثل فك رموز حجر رشيد، ووثق كتاب "وصف مصر" جوانب عديدة من الحياة المصرية.</a:t>
            </a:r>
          </a:p>
        </p:txBody>
      </p:sp>
      <p:sp>
        <p:nvSpPr>
          <p:cNvPr name="TextBox 21" id="21"/>
          <p:cNvSpPr txBox="true"/>
          <p:nvPr/>
        </p:nvSpPr>
        <p:spPr>
          <a:xfrm rot="0">
            <a:off x="10189816" y="6583413"/>
            <a:ext cx="247945" cy="386210"/>
          </a:xfrm>
          <a:prstGeom prst="rect">
            <a:avLst/>
          </a:prstGeom>
        </p:spPr>
        <p:txBody>
          <a:bodyPr anchor="t" rtlCol="false" tIns="0" lIns="0" bIns="0" rIns="0">
            <a:spAutoFit/>
          </a:bodyPr>
          <a:lstStyle/>
          <a:p>
            <a:pPr algn="l" rtl="true">
              <a:lnSpc>
                <a:spcPts val="3125"/>
              </a:lnSpc>
            </a:pPr>
            <a:r>
              <a:rPr lang="en-US" sz="1937">
                <a:solidFill>
                  <a:srgbClr val="CFCBBF"/>
                </a:solidFill>
                <a:latin typeface="Prata"/>
                <a:ea typeface="Prata"/>
                <a:cs typeface="Prata"/>
                <a:sym typeface="Prata"/>
              </a:rPr>
              <a:t>03</a:t>
            </a:r>
          </a:p>
        </p:txBody>
      </p:sp>
      <p:grpSp>
        <p:nvGrpSpPr>
          <p:cNvPr name="Group 22" id="22"/>
          <p:cNvGrpSpPr/>
          <p:nvPr/>
        </p:nvGrpSpPr>
        <p:grpSpPr>
          <a:xfrm rot="0">
            <a:off x="992238" y="7027659"/>
            <a:ext cx="9445523" cy="28575"/>
            <a:chOff x="0" y="0"/>
            <a:chExt cx="12594031" cy="38100"/>
          </a:xfrm>
        </p:grpSpPr>
        <p:sp>
          <p:nvSpPr>
            <p:cNvPr name="Freeform 23" id="23" descr="preencoded.png"/>
            <p:cNvSpPr/>
            <p:nvPr/>
          </p:nvSpPr>
          <p:spPr>
            <a:xfrm flipH="false" flipV="false" rot="0">
              <a:off x="0" y="0"/>
              <a:ext cx="12594082" cy="38100"/>
            </a:xfrm>
            <a:custGeom>
              <a:avLst/>
              <a:gdLst/>
              <a:ahLst/>
              <a:cxnLst/>
              <a:rect r="r" b="b" t="t" l="l"/>
              <a:pathLst>
                <a:path h="38100" w="12594082">
                  <a:moveTo>
                    <a:pt x="0" y="0"/>
                  </a:moveTo>
                  <a:lnTo>
                    <a:pt x="12594082" y="0"/>
                  </a:lnTo>
                  <a:lnTo>
                    <a:pt x="12594082" y="38100"/>
                  </a:lnTo>
                  <a:lnTo>
                    <a:pt x="0" y="38100"/>
                  </a:lnTo>
                  <a:lnTo>
                    <a:pt x="0" y="0"/>
                  </a:lnTo>
                  <a:close/>
                </a:path>
              </a:pathLst>
            </a:custGeom>
            <a:blipFill>
              <a:blip r:embed="rId8"/>
              <a:stretch>
                <a:fillRect l="-17" t="0" r="-16" b="0"/>
              </a:stretch>
            </a:blipFill>
          </p:spPr>
        </p:sp>
      </p:grpSp>
      <p:sp>
        <p:nvSpPr>
          <p:cNvPr name="TextBox 24" id="24"/>
          <p:cNvSpPr txBox="true"/>
          <p:nvPr/>
        </p:nvSpPr>
        <p:spPr>
          <a:xfrm rot="0">
            <a:off x="4654001" y="7214597"/>
            <a:ext cx="5783761" cy="484137"/>
          </a:xfrm>
          <a:prstGeom prst="rect">
            <a:avLst/>
          </a:prstGeom>
        </p:spPr>
        <p:txBody>
          <a:bodyPr anchor="t" rtlCol="false" tIns="0" lIns="0" bIns="0" rIns="0">
            <a:spAutoFit/>
          </a:bodyPr>
          <a:lstStyle/>
          <a:p>
            <a:pPr algn="r" rtl="true">
              <a:lnSpc>
                <a:spcPts val="3625"/>
              </a:lnSpc>
            </a:pPr>
            <a:r>
              <a:rPr lang="ar-EG" sz="2874">
                <a:solidFill>
                  <a:srgbClr val="CFCBBF"/>
                </a:solidFill>
                <a:latin typeface="Prata"/>
                <a:ea typeface="Prata"/>
                <a:cs typeface="Prata"/>
                <a:sym typeface="Prata"/>
                <a:rtl val="true"/>
              </a:rPr>
              <a:t>عصر محمد علي وأسرته (</a:t>
            </a:r>
            <a:r>
              <a:rPr lang="en-US" sz="2874">
                <a:solidFill>
                  <a:srgbClr val="CFCBBF"/>
                </a:solidFill>
                <a:latin typeface="Prata"/>
                <a:ea typeface="Prata"/>
                <a:cs typeface="Prata"/>
                <a:sym typeface="Prata"/>
              </a:rPr>
              <a:t>1805</a:t>
            </a:r>
            <a:r>
              <a:rPr lang="ar-EG" sz="2874">
                <a:solidFill>
                  <a:srgbClr val="CFCBBF"/>
                </a:solidFill>
                <a:latin typeface="Prata"/>
                <a:ea typeface="Prata"/>
                <a:cs typeface="Prata"/>
                <a:sym typeface="Prata"/>
                <a:rtl val="true"/>
              </a:rPr>
              <a:t> – </a:t>
            </a:r>
            <a:r>
              <a:rPr lang="en-US" sz="2874">
                <a:solidFill>
                  <a:srgbClr val="CFCBBF"/>
                </a:solidFill>
                <a:latin typeface="Prata"/>
                <a:ea typeface="Prata"/>
                <a:cs typeface="Prata"/>
                <a:sym typeface="Prata"/>
              </a:rPr>
              <a:t>1952</a:t>
            </a:r>
            <a:r>
              <a:rPr lang="ar-EG" sz="2874">
                <a:solidFill>
                  <a:srgbClr val="CFCBBF"/>
                </a:solidFill>
                <a:latin typeface="Prata"/>
                <a:ea typeface="Prata"/>
                <a:cs typeface="Prata"/>
                <a:sym typeface="Prata"/>
                <a:rtl val="true"/>
              </a:rPr>
              <a:t>)</a:t>
            </a:r>
          </a:p>
        </p:txBody>
      </p:sp>
      <p:sp>
        <p:nvSpPr>
          <p:cNvPr name="TextBox 25" id="25"/>
          <p:cNvSpPr txBox="true"/>
          <p:nvPr/>
        </p:nvSpPr>
        <p:spPr>
          <a:xfrm rot="0">
            <a:off x="992238" y="7761837"/>
            <a:ext cx="9445523"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يُعتبر محمد علي مؤسس مصر الحديثة، حيث قام بإصلاحات شاملة في الجيش والصناعة والزراعة والتعليم. حكمت أسرته مصر حتى ثورة </a:t>
            </a:r>
            <a:r>
              <a:rPr lang="en-US" sz="1937">
                <a:solidFill>
                  <a:srgbClr val="CFCBBF"/>
                </a:solidFill>
                <a:latin typeface="Raleway"/>
                <a:ea typeface="Raleway"/>
                <a:cs typeface="Raleway"/>
                <a:sym typeface="Raleway"/>
              </a:rPr>
              <a:t>1952</a:t>
            </a:r>
            <a:r>
              <a:rPr lang="ar-EG" sz="1937">
                <a:solidFill>
                  <a:srgbClr val="CFCBBF"/>
                </a:solidFill>
                <a:latin typeface="Raleway"/>
                <a:ea typeface="Raleway"/>
                <a:cs typeface="Raleway"/>
                <a:sym typeface="Raleway"/>
                <a:rtl val="true"/>
              </a:rPr>
              <a:t>، وشهدت هذه الفترة حكامًا بارزين مثل سعيد وإسماعيل وفؤاد وفاروق.</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6049015" y="9686925"/>
            <a:ext cx="2153260" cy="514350"/>
            <a:chOff x="0" y="0"/>
            <a:chExt cx="2871013" cy="685800"/>
          </a:xfrm>
        </p:grpSpPr>
        <p:sp>
          <p:nvSpPr>
            <p:cNvPr name="Freeform 5" id="5"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sp>
        <p:nvSpPr>
          <p:cNvPr name="TextBox 8" id="8"/>
          <p:cNvSpPr txBox="true"/>
          <p:nvPr/>
        </p:nvSpPr>
        <p:spPr>
          <a:xfrm rot="0">
            <a:off x="5916511" y="642347"/>
            <a:ext cx="11395472" cy="791023"/>
          </a:xfrm>
          <a:prstGeom prst="rect">
            <a:avLst/>
          </a:prstGeom>
        </p:spPr>
        <p:txBody>
          <a:bodyPr anchor="t" rtlCol="false" tIns="0" lIns="0" bIns="0" rIns="0">
            <a:spAutoFit/>
          </a:bodyPr>
          <a:lstStyle/>
          <a:p>
            <a:pPr algn="r" rtl="true">
              <a:lnSpc>
                <a:spcPts val="6000"/>
              </a:lnSpc>
            </a:pPr>
            <a:r>
              <a:rPr lang="ar-EG" sz="4750">
                <a:solidFill>
                  <a:srgbClr val="F2E782"/>
                </a:solidFill>
                <a:latin typeface="Prata"/>
                <a:ea typeface="Prata"/>
                <a:cs typeface="Prata"/>
                <a:sym typeface="Prata"/>
                <a:rtl val="true"/>
              </a:rPr>
              <a:t>الجمهورية الأولى: قادة وإنجازات (</a:t>
            </a:r>
            <a:r>
              <a:rPr lang="en-US" sz="4750">
                <a:solidFill>
                  <a:srgbClr val="F2E782"/>
                </a:solidFill>
                <a:latin typeface="Prata"/>
                <a:ea typeface="Prata"/>
                <a:cs typeface="Prata"/>
                <a:sym typeface="Prata"/>
              </a:rPr>
              <a:t>1952</a:t>
            </a:r>
            <a:r>
              <a:rPr lang="ar-EG" sz="4750">
                <a:solidFill>
                  <a:srgbClr val="F2E782"/>
                </a:solidFill>
                <a:latin typeface="Prata"/>
                <a:ea typeface="Prata"/>
                <a:cs typeface="Prata"/>
                <a:sym typeface="Prata"/>
                <a:rtl val="true"/>
              </a:rPr>
              <a:t> – </a:t>
            </a:r>
            <a:r>
              <a:rPr lang="en-US" sz="4750">
                <a:solidFill>
                  <a:srgbClr val="F2E782"/>
                </a:solidFill>
                <a:latin typeface="Prata"/>
                <a:ea typeface="Prata"/>
                <a:cs typeface="Prata"/>
                <a:sym typeface="Prata"/>
              </a:rPr>
              <a:t>2013</a:t>
            </a:r>
            <a:r>
              <a:rPr lang="ar-EG" sz="4750">
                <a:solidFill>
                  <a:srgbClr val="F2E782"/>
                </a:solidFill>
                <a:latin typeface="Prata"/>
                <a:ea typeface="Prata"/>
                <a:cs typeface="Prata"/>
                <a:sym typeface="Prata"/>
                <a:rtl val="true"/>
              </a:rPr>
              <a:t>)</a:t>
            </a:r>
          </a:p>
        </p:txBody>
      </p:sp>
      <p:grpSp>
        <p:nvGrpSpPr>
          <p:cNvPr name="Group 9" id="9"/>
          <p:cNvGrpSpPr/>
          <p:nvPr/>
        </p:nvGrpSpPr>
        <p:grpSpPr>
          <a:xfrm rot="0">
            <a:off x="12066689" y="1913334"/>
            <a:ext cx="5245303" cy="5245303"/>
            <a:chOff x="0" y="0"/>
            <a:chExt cx="6993738" cy="6993738"/>
          </a:xfrm>
        </p:grpSpPr>
        <p:sp>
          <p:nvSpPr>
            <p:cNvPr name="Freeform 10" id="10" descr="preencoded.png"/>
            <p:cNvSpPr/>
            <p:nvPr/>
          </p:nvSpPr>
          <p:spPr>
            <a:xfrm flipH="false" flipV="false" rot="0">
              <a:off x="0" y="0"/>
              <a:ext cx="6993763" cy="6993763"/>
            </a:xfrm>
            <a:custGeom>
              <a:avLst/>
              <a:gdLst/>
              <a:ahLst/>
              <a:cxnLst/>
              <a:rect r="r" b="b" t="t" l="l"/>
              <a:pathLst>
                <a:path h="6993763" w="6993763">
                  <a:moveTo>
                    <a:pt x="0" y="0"/>
                  </a:moveTo>
                  <a:lnTo>
                    <a:pt x="6993763" y="0"/>
                  </a:lnTo>
                  <a:lnTo>
                    <a:pt x="6993763" y="6993763"/>
                  </a:lnTo>
                  <a:lnTo>
                    <a:pt x="0" y="6993763"/>
                  </a:lnTo>
                  <a:lnTo>
                    <a:pt x="0" y="0"/>
                  </a:lnTo>
                  <a:close/>
                </a:path>
              </a:pathLst>
            </a:custGeom>
            <a:blipFill>
              <a:blip r:embed="rId6"/>
              <a:stretch>
                <a:fillRect l="0" t="0" r="0" b="0"/>
              </a:stretch>
            </a:blipFill>
          </p:spPr>
        </p:sp>
      </p:grpSp>
      <p:sp>
        <p:nvSpPr>
          <p:cNvPr name="TextBox 11" id="11"/>
          <p:cNvSpPr txBox="true"/>
          <p:nvPr/>
        </p:nvSpPr>
        <p:spPr>
          <a:xfrm rot="0">
            <a:off x="12066689" y="7389019"/>
            <a:ext cx="5245303" cy="924220"/>
          </a:xfrm>
          <a:prstGeom prst="rect">
            <a:avLst/>
          </a:prstGeom>
        </p:spPr>
        <p:txBody>
          <a:bodyPr anchor="t" rtlCol="false" tIns="0" lIns="0" bIns="0" rIns="0">
            <a:spAutoFit/>
          </a:bodyPr>
          <a:lstStyle/>
          <a:p>
            <a:pPr algn="r" rtl="true">
              <a:lnSpc>
                <a:spcPts val="3562"/>
              </a:lnSpc>
            </a:pPr>
            <a:r>
              <a:rPr lang="ar-EG" sz="2874">
                <a:solidFill>
                  <a:srgbClr val="CFCBBF"/>
                </a:solidFill>
                <a:latin typeface="Prata"/>
                <a:ea typeface="Prata"/>
                <a:cs typeface="Prata"/>
                <a:sym typeface="Prata"/>
                <a:rtl val="true"/>
              </a:rPr>
              <a:t>عهد جمال عبد الناصر (</a:t>
            </a:r>
            <a:r>
              <a:rPr lang="en-US" sz="2874">
                <a:solidFill>
                  <a:srgbClr val="CFCBBF"/>
                </a:solidFill>
                <a:latin typeface="Prata"/>
                <a:ea typeface="Prata"/>
                <a:cs typeface="Prata"/>
                <a:sym typeface="Prata"/>
              </a:rPr>
              <a:t>1954</a:t>
            </a:r>
            <a:r>
              <a:rPr lang="ar-EG" sz="2874">
                <a:solidFill>
                  <a:srgbClr val="CFCBBF"/>
                </a:solidFill>
                <a:latin typeface="Prata"/>
                <a:ea typeface="Prata"/>
                <a:cs typeface="Prata"/>
                <a:sym typeface="Prata"/>
                <a:rtl val="true"/>
              </a:rPr>
              <a:t> – </a:t>
            </a:r>
            <a:r>
              <a:rPr lang="en-US" sz="2874">
                <a:solidFill>
                  <a:srgbClr val="CFCBBF"/>
                </a:solidFill>
                <a:latin typeface="Prata"/>
                <a:ea typeface="Prata"/>
                <a:cs typeface="Prata"/>
                <a:sym typeface="Prata"/>
              </a:rPr>
              <a:t>1970</a:t>
            </a:r>
            <a:r>
              <a:rPr lang="ar-EG" sz="2874">
                <a:solidFill>
                  <a:srgbClr val="CFCBBF"/>
                </a:solidFill>
                <a:latin typeface="Prata"/>
                <a:ea typeface="Prata"/>
                <a:cs typeface="Prata"/>
                <a:sym typeface="Prata"/>
                <a:rtl val="true"/>
              </a:rPr>
              <a:t>)</a:t>
            </a:r>
          </a:p>
        </p:txBody>
      </p:sp>
      <p:sp>
        <p:nvSpPr>
          <p:cNvPr name="TextBox 12" id="12"/>
          <p:cNvSpPr txBox="true"/>
          <p:nvPr/>
        </p:nvSpPr>
        <p:spPr>
          <a:xfrm rot="0">
            <a:off x="12066689" y="8371437"/>
            <a:ext cx="5245303" cy="1247480"/>
          </a:xfrm>
          <a:prstGeom prst="rect">
            <a:avLst/>
          </a:prstGeom>
        </p:spPr>
        <p:txBody>
          <a:bodyPr anchor="t" rtlCol="false" tIns="0" lIns="0" bIns="0" rIns="0">
            <a:spAutoFit/>
          </a:bodyPr>
          <a:lstStyle/>
          <a:p>
            <a:pPr algn="r" rtl="true">
              <a:lnSpc>
                <a:spcPts val="3000"/>
              </a:lnSpc>
            </a:pPr>
            <a:r>
              <a:rPr lang="ar-EG" sz="1874">
                <a:solidFill>
                  <a:srgbClr val="CFCBBF"/>
                </a:solidFill>
                <a:latin typeface="Raleway"/>
                <a:ea typeface="Raleway"/>
                <a:cs typeface="Raleway"/>
                <a:sym typeface="Raleway"/>
                <a:rtl val="true"/>
              </a:rPr>
              <a:t>شهد تأميم قناة السويس وبناء السد العالي، وتبنى سياسات اشتراكية وإصلاحًا زراعيًا. واجه تحديات كبيرة مثل حرب </a:t>
            </a:r>
            <a:r>
              <a:rPr lang="en-US" sz="1874">
                <a:solidFill>
                  <a:srgbClr val="CFCBBF"/>
                </a:solidFill>
                <a:latin typeface="Raleway"/>
                <a:ea typeface="Raleway"/>
                <a:cs typeface="Raleway"/>
                <a:sym typeface="Raleway"/>
              </a:rPr>
              <a:t>1967</a:t>
            </a:r>
            <a:r>
              <a:rPr lang="ar-EG" sz="1874">
                <a:solidFill>
                  <a:srgbClr val="CFCBBF"/>
                </a:solidFill>
                <a:latin typeface="Raleway"/>
                <a:ea typeface="Raleway"/>
                <a:cs typeface="Raleway"/>
                <a:sym typeface="Raleway"/>
                <a:rtl val="true"/>
              </a:rPr>
              <a:t>.</a:t>
            </a:r>
          </a:p>
        </p:txBody>
      </p:sp>
      <p:grpSp>
        <p:nvGrpSpPr>
          <p:cNvPr name="Group 13" id="13"/>
          <p:cNvGrpSpPr/>
          <p:nvPr/>
        </p:nvGrpSpPr>
        <p:grpSpPr>
          <a:xfrm rot="0">
            <a:off x="6521348" y="1913334"/>
            <a:ext cx="5245446" cy="5245446"/>
            <a:chOff x="0" y="0"/>
            <a:chExt cx="6993928" cy="6993928"/>
          </a:xfrm>
        </p:grpSpPr>
        <p:sp>
          <p:nvSpPr>
            <p:cNvPr name="Freeform 14" id="14" descr="preencoded.png"/>
            <p:cNvSpPr/>
            <p:nvPr/>
          </p:nvSpPr>
          <p:spPr>
            <a:xfrm flipH="false" flipV="false" rot="0">
              <a:off x="0" y="0"/>
              <a:ext cx="6993890" cy="6993890"/>
            </a:xfrm>
            <a:custGeom>
              <a:avLst/>
              <a:gdLst/>
              <a:ahLst/>
              <a:cxnLst/>
              <a:rect r="r" b="b" t="t" l="l"/>
              <a:pathLst>
                <a:path h="6993890" w="6993890">
                  <a:moveTo>
                    <a:pt x="0" y="0"/>
                  </a:moveTo>
                  <a:lnTo>
                    <a:pt x="6993890" y="0"/>
                  </a:lnTo>
                  <a:lnTo>
                    <a:pt x="6993890" y="6993890"/>
                  </a:lnTo>
                  <a:lnTo>
                    <a:pt x="0" y="6993890"/>
                  </a:lnTo>
                  <a:lnTo>
                    <a:pt x="0" y="0"/>
                  </a:lnTo>
                  <a:close/>
                </a:path>
              </a:pathLst>
            </a:custGeom>
            <a:blipFill>
              <a:blip r:embed="rId7"/>
              <a:stretch>
                <a:fillRect l="0" t="0" r="0" b="0"/>
              </a:stretch>
            </a:blipFill>
          </p:spPr>
        </p:sp>
      </p:grpSp>
      <p:sp>
        <p:nvSpPr>
          <p:cNvPr name="TextBox 15" id="15"/>
          <p:cNvSpPr txBox="true"/>
          <p:nvPr/>
        </p:nvSpPr>
        <p:spPr>
          <a:xfrm rot="0">
            <a:off x="7033917" y="7389171"/>
            <a:ext cx="4732887" cy="466877"/>
          </a:xfrm>
          <a:prstGeom prst="rect">
            <a:avLst/>
          </a:prstGeom>
        </p:spPr>
        <p:txBody>
          <a:bodyPr anchor="t" rtlCol="false" tIns="0" lIns="0" bIns="0" rIns="0">
            <a:spAutoFit/>
          </a:bodyPr>
          <a:lstStyle/>
          <a:p>
            <a:pPr algn="r" rtl="true">
              <a:lnSpc>
                <a:spcPts val="3562"/>
              </a:lnSpc>
            </a:pPr>
            <a:r>
              <a:rPr lang="ar-EG" sz="2874">
                <a:solidFill>
                  <a:srgbClr val="CFCBBF"/>
                </a:solidFill>
                <a:latin typeface="Prata"/>
                <a:ea typeface="Prata"/>
                <a:cs typeface="Prata"/>
                <a:sym typeface="Prata"/>
                <a:rtl val="true"/>
              </a:rPr>
              <a:t>عهد أنور السادات (</a:t>
            </a:r>
            <a:r>
              <a:rPr lang="en-US" sz="2874">
                <a:solidFill>
                  <a:srgbClr val="CFCBBF"/>
                </a:solidFill>
                <a:latin typeface="Prata"/>
                <a:ea typeface="Prata"/>
                <a:cs typeface="Prata"/>
                <a:sym typeface="Prata"/>
              </a:rPr>
              <a:t>1970</a:t>
            </a:r>
            <a:r>
              <a:rPr lang="ar-EG" sz="2874">
                <a:solidFill>
                  <a:srgbClr val="CFCBBF"/>
                </a:solidFill>
                <a:latin typeface="Prata"/>
                <a:ea typeface="Prata"/>
                <a:cs typeface="Prata"/>
                <a:sym typeface="Prata"/>
                <a:rtl val="true"/>
              </a:rPr>
              <a:t> – </a:t>
            </a:r>
            <a:r>
              <a:rPr lang="en-US" sz="2874">
                <a:solidFill>
                  <a:srgbClr val="CFCBBF"/>
                </a:solidFill>
                <a:latin typeface="Prata"/>
                <a:ea typeface="Prata"/>
                <a:cs typeface="Prata"/>
                <a:sym typeface="Prata"/>
              </a:rPr>
              <a:t>1981</a:t>
            </a:r>
            <a:r>
              <a:rPr lang="ar-EG" sz="2874">
                <a:solidFill>
                  <a:srgbClr val="CFCBBF"/>
                </a:solidFill>
                <a:latin typeface="Prata"/>
                <a:ea typeface="Prata"/>
                <a:cs typeface="Prata"/>
                <a:sym typeface="Prata"/>
                <a:rtl val="true"/>
              </a:rPr>
              <a:t>)</a:t>
            </a:r>
          </a:p>
        </p:txBody>
      </p:sp>
      <p:sp>
        <p:nvSpPr>
          <p:cNvPr name="TextBox 16" id="16"/>
          <p:cNvSpPr txBox="true"/>
          <p:nvPr/>
        </p:nvSpPr>
        <p:spPr>
          <a:xfrm rot="0">
            <a:off x="6521348" y="7914237"/>
            <a:ext cx="5245446" cy="860222"/>
          </a:xfrm>
          <a:prstGeom prst="rect">
            <a:avLst/>
          </a:prstGeom>
        </p:spPr>
        <p:txBody>
          <a:bodyPr anchor="t" rtlCol="false" tIns="0" lIns="0" bIns="0" rIns="0">
            <a:spAutoFit/>
          </a:bodyPr>
          <a:lstStyle/>
          <a:p>
            <a:pPr algn="r" rtl="true">
              <a:lnSpc>
                <a:spcPts val="3000"/>
              </a:lnSpc>
            </a:pPr>
            <a:r>
              <a:rPr lang="ar-EG" sz="1874">
                <a:solidFill>
                  <a:srgbClr val="CFCBBF"/>
                </a:solidFill>
                <a:latin typeface="Raleway"/>
                <a:ea typeface="Raleway"/>
                <a:cs typeface="Raleway"/>
                <a:sym typeface="Raleway"/>
                <a:rtl val="true"/>
              </a:rPr>
              <a:t>قاد حرب أكتوبر </a:t>
            </a:r>
            <a:r>
              <a:rPr lang="en-US" sz="1874">
                <a:solidFill>
                  <a:srgbClr val="CFCBBF"/>
                </a:solidFill>
                <a:latin typeface="Raleway"/>
                <a:ea typeface="Raleway"/>
                <a:cs typeface="Raleway"/>
                <a:sym typeface="Raleway"/>
              </a:rPr>
              <a:t>1973</a:t>
            </a:r>
            <a:r>
              <a:rPr lang="ar-EG" sz="1874">
                <a:solidFill>
                  <a:srgbClr val="CFCBBF"/>
                </a:solidFill>
                <a:latin typeface="Raleway"/>
                <a:ea typeface="Raleway"/>
                <a:cs typeface="Raleway"/>
                <a:sym typeface="Raleway"/>
                <a:rtl val="true"/>
              </a:rPr>
              <a:t>، وتبنى سياسة الانفتاح الاقتصادي، ووقع اتفاقية السلام مع إسرائيل.</a:t>
            </a:r>
          </a:p>
        </p:txBody>
      </p:sp>
      <p:grpSp>
        <p:nvGrpSpPr>
          <p:cNvPr name="Group 17" id="17"/>
          <p:cNvGrpSpPr/>
          <p:nvPr/>
        </p:nvGrpSpPr>
        <p:grpSpPr>
          <a:xfrm rot="0">
            <a:off x="976160" y="1913334"/>
            <a:ext cx="5245303" cy="5245303"/>
            <a:chOff x="0" y="0"/>
            <a:chExt cx="6993738" cy="6993738"/>
          </a:xfrm>
        </p:grpSpPr>
        <p:sp>
          <p:nvSpPr>
            <p:cNvPr name="Freeform 18" id="18" descr="preencoded.png"/>
            <p:cNvSpPr/>
            <p:nvPr/>
          </p:nvSpPr>
          <p:spPr>
            <a:xfrm flipH="false" flipV="false" rot="0">
              <a:off x="0" y="0"/>
              <a:ext cx="6993763" cy="6993763"/>
            </a:xfrm>
            <a:custGeom>
              <a:avLst/>
              <a:gdLst/>
              <a:ahLst/>
              <a:cxnLst/>
              <a:rect r="r" b="b" t="t" l="l"/>
              <a:pathLst>
                <a:path h="6993763" w="6993763">
                  <a:moveTo>
                    <a:pt x="0" y="0"/>
                  </a:moveTo>
                  <a:lnTo>
                    <a:pt x="6993763" y="0"/>
                  </a:lnTo>
                  <a:lnTo>
                    <a:pt x="6993763" y="6993763"/>
                  </a:lnTo>
                  <a:lnTo>
                    <a:pt x="0" y="6993763"/>
                  </a:lnTo>
                  <a:lnTo>
                    <a:pt x="0" y="0"/>
                  </a:lnTo>
                  <a:close/>
                </a:path>
              </a:pathLst>
            </a:custGeom>
            <a:blipFill>
              <a:blip r:embed="rId8"/>
              <a:stretch>
                <a:fillRect l="0" t="0" r="0" b="0"/>
              </a:stretch>
            </a:blipFill>
          </p:spPr>
        </p:sp>
      </p:grpSp>
      <p:sp>
        <p:nvSpPr>
          <p:cNvPr name="TextBox 19" id="19"/>
          <p:cNvSpPr txBox="true"/>
          <p:nvPr/>
        </p:nvSpPr>
        <p:spPr>
          <a:xfrm rot="0">
            <a:off x="1481433" y="7389019"/>
            <a:ext cx="4740031" cy="466877"/>
          </a:xfrm>
          <a:prstGeom prst="rect">
            <a:avLst/>
          </a:prstGeom>
        </p:spPr>
        <p:txBody>
          <a:bodyPr anchor="t" rtlCol="false" tIns="0" lIns="0" bIns="0" rIns="0">
            <a:spAutoFit/>
          </a:bodyPr>
          <a:lstStyle/>
          <a:p>
            <a:pPr algn="r" rtl="true">
              <a:lnSpc>
                <a:spcPts val="3562"/>
              </a:lnSpc>
            </a:pPr>
            <a:r>
              <a:rPr lang="ar-EG" sz="2874">
                <a:solidFill>
                  <a:srgbClr val="CFCBBF"/>
                </a:solidFill>
                <a:latin typeface="Prata"/>
                <a:ea typeface="Prata"/>
                <a:cs typeface="Prata"/>
                <a:sym typeface="Prata"/>
                <a:rtl val="true"/>
              </a:rPr>
              <a:t>عهد حسني مبارك (</a:t>
            </a:r>
            <a:r>
              <a:rPr lang="en-US" sz="2874">
                <a:solidFill>
                  <a:srgbClr val="CFCBBF"/>
                </a:solidFill>
                <a:latin typeface="Prata"/>
                <a:ea typeface="Prata"/>
                <a:cs typeface="Prata"/>
                <a:sym typeface="Prata"/>
              </a:rPr>
              <a:t>1981</a:t>
            </a:r>
            <a:r>
              <a:rPr lang="ar-EG" sz="2874">
                <a:solidFill>
                  <a:srgbClr val="CFCBBF"/>
                </a:solidFill>
                <a:latin typeface="Prata"/>
                <a:ea typeface="Prata"/>
                <a:cs typeface="Prata"/>
                <a:sym typeface="Prata"/>
                <a:rtl val="true"/>
              </a:rPr>
              <a:t> – </a:t>
            </a:r>
            <a:r>
              <a:rPr lang="en-US" sz="2874">
                <a:solidFill>
                  <a:srgbClr val="CFCBBF"/>
                </a:solidFill>
                <a:latin typeface="Prata"/>
                <a:ea typeface="Prata"/>
                <a:cs typeface="Prata"/>
                <a:sym typeface="Prata"/>
              </a:rPr>
              <a:t>2011</a:t>
            </a:r>
            <a:r>
              <a:rPr lang="ar-EG" sz="2874">
                <a:solidFill>
                  <a:srgbClr val="CFCBBF"/>
                </a:solidFill>
                <a:latin typeface="Prata"/>
                <a:ea typeface="Prata"/>
                <a:cs typeface="Prata"/>
                <a:sym typeface="Prata"/>
                <a:rtl val="true"/>
              </a:rPr>
              <a:t>)</a:t>
            </a:r>
          </a:p>
        </p:txBody>
      </p:sp>
      <p:sp>
        <p:nvSpPr>
          <p:cNvPr name="TextBox 20" id="20"/>
          <p:cNvSpPr txBox="true"/>
          <p:nvPr/>
        </p:nvSpPr>
        <p:spPr>
          <a:xfrm rot="0">
            <a:off x="976160" y="7914084"/>
            <a:ext cx="5245303" cy="860222"/>
          </a:xfrm>
          <a:prstGeom prst="rect">
            <a:avLst/>
          </a:prstGeom>
        </p:spPr>
        <p:txBody>
          <a:bodyPr anchor="t" rtlCol="false" tIns="0" lIns="0" bIns="0" rIns="0">
            <a:spAutoFit/>
          </a:bodyPr>
          <a:lstStyle/>
          <a:p>
            <a:pPr algn="r" rtl="true">
              <a:lnSpc>
                <a:spcPts val="3000"/>
              </a:lnSpc>
            </a:pPr>
            <a:r>
              <a:rPr lang="ar-EG" sz="1874">
                <a:solidFill>
                  <a:srgbClr val="CFCBBF"/>
                </a:solidFill>
                <a:latin typeface="Raleway"/>
                <a:ea typeface="Raleway"/>
                <a:cs typeface="Raleway"/>
                <a:sym typeface="Raleway"/>
                <a:rtl val="true"/>
              </a:rPr>
              <a:t>تميز باستقرار نسبي وتنمية جزئية، ولكنه شهد أيضًا انتشار الفساد، مما أدى إلى ثورة يناير </a:t>
            </a:r>
            <a:r>
              <a:rPr lang="en-US" sz="1874">
                <a:solidFill>
                  <a:srgbClr val="CFCBBF"/>
                </a:solidFill>
                <a:latin typeface="Raleway"/>
                <a:ea typeface="Raleway"/>
                <a:cs typeface="Raleway"/>
                <a:sym typeface="Raleway"/>
              </a:rPr>
              <a:t>2011</a:t>
            </a:r>
            <a:r>
              <a:rPr lang="ar-EG" sz="1874">
                <a:solidFill>
                  <a:srgbClr val="CFCBBF"/>
                </a:solidFill>
                <a:latin typeface="Raleway"/>
                <a:ea typeface="Raleway"/>
                <a:cs typeface="Raleway"/>
                <a:sym typeface="Raleway"/>
                <a:rtl val="true"/>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2547785"/>
            <a:ext cx="9445523" cy="1569244"/>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الفترة الانتقالية: تحديات وتغيرات (</a:t>
            </a:r>
            <a:r>
              <a:rPr lang="en-US" sz="4875">
                <a:solidFill>
                  <a:srgbClr val="F2E782"/>
                </a:solidFill>
                <a:latin typeface="Prata"/>
                <a:ea typeface="Prata"/>
                <a:cs typeface="Prata"/>
                <a:sym typeface="Prata"/>
              </a:rPr>
              <a:t>2011</a:t>
            </a:r>
            <a:r>
              <a:rPr lang="ar-EG" sz="4875">
                <a:solidFill>
                  <a:srgbClr val="F2E782"/>
                </a:solidFill>
                <a:latin typeface="Prata"/>
                <a:ea typeface="Prata"/>
                <a:cs typeface="Prata"/>
                <a:sym typeface="Prata"/>
                <a:rtl val="true"/>
              </a:rPr>
              <a:t> – </a:t>
            </a:r>
            <a:r>
              <a:rPr lang="en-US" sz="4875">
                <a:solidFill>
                  <a:srgbClr val="F2E782"/>
                </a:solidFill>
                <a:latin typeface="Prata"/>
                <a:ea typeface="Prata"/>
                <a:cs typeface="Prata"/>
                <a:sym typeface="Prata"/>
              </a:rPr>
              <a:t>2014</a:t>
            </a:r>
            <a:r>
              <a:rPr lang="ar-EG" sz="4875">
                <a:solidFill>
                  <a:srgbClr val="F2E782"/>
                </a:solidFill>
                <a:latin typeface="Prata"/>
                <a:ea typeface="Prata"/>
                <a:cs typeface="Prata"/>
                <a:sym typeface="Prata"/>
                <a:rtl val="true"/>
              </a:rPr>
              <a:t>)</a:t>
            </a:r>
          </a:p>
        </p:txBody>
      </p:sp>
      <p:sp>
        <p:nvSpPr>
          <p:cNvPr name="TextBox 11" id="11"/>
          <p:cNvSpPr txBox="true"/>
          <p:nvPr/>
        </p:nvSpPr>
        <p:spPr>
          <a:xfrm rot="0">
            <a:off x="992238" y="4403379"/>
            <a:ext cx="9445523"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بعد ثورة يناير </a:t>
            </a:r>
            <a:r>
              <a:rPr lang="en-US" sz="1937">
                <a:solidFill>
                  <a:srgbClr val="CFCBBF"/>
                </a:solidFill>
                <a:latin typeface="Raleway"/>
                <a:ea typeface="Raleway"/>
                <a:cs typeface="Raleway"/>
                <a:sym typeface="Raleway"/>
              </a:rPr>
              <a:t>2011</a:t>
            </a:r>
            <a:r>
              <a:rPr lang="ar-EG" sz="1937">
                <a:solidFill>
                  <a:srgbClr val="CFCBBF"/>
                </a:solidFill>
                <a:latin typeface="Raleway"/>
                <a:ea typeface="Raleway"/>
                <a:cs typeface="Raleway"/>
                <a:sym typeface="Raleway"/>
                <a:rtl val="true"/>
              </a:rPr>
              <a:t>، مرت مصر بفترة انتقالية معقدة، حيث تولى المجلس العسكري إدارة شؤون البلاد. شهدت هذه الفترة انتخابات رئاسية وبرلمانية، وتغيرات سياسية واجتماعية متسارعة، مما مهد الطريق لظهور الجمهورية الجديدة.</a:t>
            </a:r>
          </a:p>
        </p:txBody>
      </p:sp>
      <p:sp>
        <p:nvSpPr>
          <p:cNvPr name="TextBox 12" id="12"/>
          <p:cNvSpPr txBox="true"/>
          <p:nvPr/>
        </p:nvSpPr>
        <p:spPr>
          <a:xfrm rot="0">
            <a:off x="992238" y="5873201"/>
            <a:ext cx="9445523" cy="1846955"/>
          </a:xfrm>
          <a:prstGeom prst="rect">
            <a:avLst/>
          </a:prstGeom>
        </p:spPr>
        <p:txBody>
          <a:bodyPr anchor="t" rtlCol="false" tIns="0" lIns="0" bIns="0" rIns="0">
            <a:spAutoFit/>
          </a:bodyPr>
          <a:lstStyle/>
          <a:p>
            <a:pPr algn="r" rtl="true" marL="292199" indent="-146100" lvl="1">
              <a:lnSpc>
                <a:spcPts val="3125"/>
              </a:lnSpc>
              <a:buFont typeface="Arial"/>
              <a:buChar char="•"/>
            </a:pPr>
            <a:r>
              <a:rPr lang="ar-EG" b="true" sz="1937">
                <a:solidFill>
                  <a:srgbClr val="CFCBBF"/>
                </a:solidFill>
                <a:latin typeface="Raleway Bold"/>
                <a:ea typeface="Raleway Bold"/>
                <a:cs typeface="Raleway Bold"/>
                <a:sym typeface="Raleway Bold"/>
                <a:rtl val="true"/>
              </a:rPr>
              <a:t>حكم المجلس العسكري:</a:t>
            </a:r>
            <a:r>
              <a:rPr lang="ar-EG" sz="1937">
                <a:solidFill>
                  <a:srgbClr val="CFCBBF"/>
                </a:solidFill>
                <a:latin typeface="Raleway"/>
                <a:ea typeface="Raleway"/>
                <a:cs typeface="Raleway"/>
                <a:sym typeface="Raleway"/>
                <a:rtl val="true"/>
              </a:rPr>
              <a:t> تولى المجلس الأعلى للقوات المسلحة إدارة البلاد بعد تنحي الرئيس مبارك.</a:t>
            </a:r>
          </a:p>
          <a:p>
            <a:pPr algn="r" rtl="true" marL="292199" indent="-146100" lvl="1">
              <a:lnSpc>
                <a:spcPts val="3125"/>
              </a:lnSpc>
              <a:buFont typeface="Arial"/>
              <a:buChar char="•"/>
            </a:pPr>
            <a:r>
              <a:rPr lang="ar-EG" b="true" sz="1937">
                <a:solidFill>
                  <a:srgbClr val="CFCBBF"/>
                </a:solidFill>
                <a:latin typeface="Raleway Bold"/>
                <a:ea typeface="Raleway Bold"/>
                <a:cs typeface="Raleway Bold"/>
                <a:sym typeface="Raleway Bold"/>
                <a:rtl val="true"/>
              </a:rPr>
              <a:t>انتخابات </a:t>
            </a:r>
            <a:r>
              <a:rPr lang="en-US" b="true" sz="1937">
                <a:solidFill>
                  <a:srgbClr val="CFCBBF"/>
                </a:solidFill>
                <a:latin typeface="Raleway Bold"/>
                <a:ea typeface="Raleway Bold"/>
                <a:cs typeface="Raleway Bold"/>
                <a:sym typeface="Raleway Bold"/>
              </a:rPr>
              <a:t>2012</a:t>
            </a:r>
            <a:r>
              <a:rPr lang="ar-EG" b="true" sz="1937">
                <a:solidFill>
                  <a:srgbClr val="CFCBBF"/>
                </a:solidFill>
                <a:latin typeface="Raleway Bold"/>
                <a:ea typeface="Raleway Bold"/>
                <a:cs typeface="Raleway Bold"/>
                <a:sym typeface="Raleway Bold"/>
                <a:rtl val="true"/>
              </a:rPr>
              <a:t>:</a:t>
            </a:r>
            <a:r>
              <a:rPr lang="ar-EG" sz="1937">
                <a:solidFill>
                  <a:srgbClr val="CFCBBF"/>
                </a:solidFill>
                <a:latin typeface="Raleway"/>
                <a:ea typeface="Raleway"/>
                <a:cs typeface="Raleway"/>
                <a:sym typeface="Raleway"/>
                <a:rtl val="true"/>
              </a:rPr>
              <a:t> شهدت مصر أول انتخابات رئاسية ديمقراطية بعد الثورة.</a:t>
            </a:r>
          </a:p>
          <a:p>
            <a:pPr algn="r" rtl="true" marL="292199" indent="-146100" lvl="1">
              <a:lnSpc>
                <a:spcPts val="3125"/>
              </a:lnSpc>
              <a:buFont typeface="Arial"/>
              <a:buChar char="•"/>
            </a:pPr>
            <a:r>
              <a:rPr lang="ar-EG" b="true" sz="1937">
                <a:solidFill>
                  <a:srgbClr val="CFCBBF"/>
                </a:solidFill>
                <a:latin typeface="Raleway Bold"/>
                <a:ea typeface="Raleway Bold"/>
                <a:cs typeface="Raleway Bold"/>
                <a:sym typeface="Raleway Bold"/>
                <a:rtl val="true"/>
              </a:rPr>
              <a:t>انتخابات </a:t>
            </a:r>
            <a:r>
              <a:rPr lang="en-US" b="true" sz="1937">
                <a:solidFill>
                  <a:srgbClr val="CFCBBF"/>
                </a:solidFill>
                <a:latin typeface="Raleway Bold"/>
                <a:ea typeface="Raleway Bold"/>
                <a:cs typeface="Raleway Bold"/>
                <a:sym typeface="Raleway Bold"/>
              </a:rPr>
              <a:t>2013</a:t>
            </a:r>
            <a:r>
              <a:rPr lang="ar-EG" b="true" sz="1937">
                <a:solidFill>
                  <a:srgbClr val="CFCBBF"/>
                </a:solidFill>
                <a:latin typeface="Raleway Bold"/>
                <a:ea typeface="Raleway Bold"/>
                <a:cs typeface="Raleway Bold"/>
                <a:sym typeface="Raleway Bold"/>
                <a:rtl val="true"/>
              </a:rPr>
              <a:t>:</a:t>
            </a:r>
            <a:r>
              <a:rPr lang="ar-EG" sz="1937">
                <a:solidFill>
                  <a:srgbClr val="CFCBBF"/>
                </a:solidFill>
                <a:latin typeface="Raleway"/>
                <a:ea typeface="Raleway"/>
                <a:cs typeface="Raleway"/>
                <a:sym typeface="Raleway"/>
                <a:rtl val="true"/>
              </a:rPr>
              <a:t> تبعتها انتخابات رئاسية مبكرة بعد أحداث </a:t>
            </a:r>
            <a:r>
              <a:rPr lang="en-US" sz="1937">
                <a:solidFill>
                  <a:srgbClr val="CFCBBF"/>
                </a:solidFill>
                <a:latin typeface="Raleway"/>
                <a:ea typeface="Raleway"/>
                <a:cs typeface="Raleway"/>
                <a:sym typeface="Raleway"/>
              </a:rPr>
              <a:t>30</a:t>
            </a:r>
            <a:r>
              <a:rPr lang="ar-EG" sz="1937">
                <a:solidFill>
                  <a:srgbClr val="CFCBBF"/>
                </a:solidFill>
                <a:latin typeface="Raleway"/>
                <a:ea typeface="Raleway"/>
                <a:cs typeface="Raleway"/>
                <a:sym typeface="Raleway"/>
                <a:rtl val="true"/>
              </a:rPr>
              <a:t> يونيو.</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C1D"/>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684457"/>
            <a:ext cx="9445523" cy="1569244"/>
          </a:xfrm>
          <a:prstGeom prst="rect">
            <a:avLst/>
          </a:prstGeom>
        </p:spPr>
        <p:txBody>
          <a:bodyPr anchor="t" rtlCol="false" tIns="0" lIns="0" bIns="0" rIns="0">
            <a:spAutoFit/>
          </a:bodyPr>
          <a:lstStyle/>
          <a:p>
            <a:pPr algn="r" rtl="true">
              <a:lnSpc>
                <a:spcPts val="6062"/>
              </a:lnSpc>
            </a:pPr>
            <a:r>
              <a:rPr lang="ar-EG" sz="4875">
                <a:solidFill>
                  <a:srgbClr val="F2E782"/>
                </a:solidFill>
                <a:latin typeface="Prata"/>
                <a:ea typeface="Prata"/>
                <a:cs typeface="Prata"/>
                <a:sym typeface="Prata"/>
                <a:rtl val="true"/>
              </a:rPr>
              <a:t>الجمهورية الجديدة: بناء المستقبل (</a:t>
            </a:r>
            <a:r>
              <a:rPr lang="en-US" sz="4875">
                <a:solidFill>
                  <a:srgbClr val="F2E782"/>
                </a:solidFill>
                <a:latin typeface="Prata"/>
                <a:ea typeface="Prata"/>
                <a:cs typeface="Prata"/>
                <a:sym typeface="Prata"/>
              </a:rPr>
              <a:t>2014</a:t>
            </a:r>
            <a:r>
              <a:rPr lang="ar-EG" sz="4875">
                <a:solidFill>
                  <a:srgbClr val="F2E782"/>
                </a:solidFill>
                <a:latin typeface="Prata"/>
                <a:ea typeface="Prata"/>
                <a:cs typeface="Prata"/>
                <a:sym typeface="Prata"/>
                <a:rtl val="true"/>
              </a:rPr>
              <a:t> – حتى الآن)</a:t>
            </a:r>
          </a:p>
        </p:txBody>
      </p:sp>
      <p:sp>
        <p:nvSpPr>
          <p:cNvPr name="TextBox 11" id="11"/>
          <p:cNvSpPr txBox="true"/>
          <p:nvPr/>
        </p:nvSpPr>
        <p:spPr>
          <a:xfrm rot="0">
            <a:off x="992238" y="2540051"/>
            <a:ext cx="9445523" cy="1276502"/>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بدأ عهد الرئيس عبد الفتاح السيسي، الذي ركز على تنفيذ مشروعات بنية تحتية ضخمة، مثل العاصمة الإدارية الجديدة، وتطوير شبكة الطرق والأنفاق. شهدت هذه الفترة استقرارًا أمنيًا ملحوظًا، وإصلاحات اقتصادية واسعة تهدف إلى تحقيق التنمية المستدامة والنهوض بالبلاد.</a:t>
            </a:r>
          </a:p>
        </p:txBody>
      </p:sp>
      <p:grpSp>
        <p:nvGrpSpPr>
          <p:cNvPr name="Group 12" id="12"/>
          <p:cNvGrpSpPr/>
          <p:nvPr/>
        </p:nvGrpSpPr>
        <p:grpSpPr>
          <a:xfrm rot="0">
            <a:off x="5838977" y="4095598"/>
            <a:ext cx="4598784" cy="2818362"/>
            <a:chOff x="0" y="0"/>
            <a:chExt cx="6131712" cy="3757816"/>
          </a:xfrm>
        </p:grpSpPr>
        <p:sp>
          <p:nvSpPr>
            <p:cNvPr name="Freeform 13" id="13"/>
            <p:cNvSpPr/>
            <p:nvPr/>
          </p:nvSpPr>
          <p:spPr>
            <a:xfrm flipH="false" flipV="false" rot="0">
              <a:off x="0" y="0"/>
              <a:ext cx="6131814" cy="3757803"/>
            </a:xfrm>
            <a:custGeom>
              <a:avLst/>
              <a:gdLst/>
              <a:ahLst/>
              <a:cxnLst/>
              <a:rect r="r" b="b" t="t" l="l"/>
              <a:pathLst>
                <a:path h="3757803" w="6131814">
                  <a:moveTo>
                    <a:pt x="0" y="49657"/>
                  </a:moveTo>
                  <a:cubicBezTo>
                    <a:pt x="0" y="22225"/>
                    <a:pt x="22225" y="0"/>
                    <a:pt x="49657" y="0"/>
                  </a:cubicBezTo>
                  <a:lnTo>
                    <a:pt x="6082157" y="0"/>
                  </a:lnTo>
                  <a:cubicBezTo>
                    <a:pt x="6109589" y="0"/>
                    <a:pt x="6131814" y="22225"/>
                    <a:pt x="6131814" y="49657"/>
                  </a:cubicBezTo>
                  <a:lnTo>
                    <a:pt x="6131814" y="3708146"/>
                  </a:lnTo>
                  <a:cubicBezTo>
                    <a:pt x="6131814" y="3735578"/>
                    <a:pt x="6109589" y="3757803"/>
                    <a:pt x="6082157" y="3757803"/>
                  </a:cubicBezTo>
                  <a:lnTo>
                    <a:pt x="49657" y="3757803"/>
                  </a:lnTo>
                  <a:cubicBezTo>
                    <a:pt x="22225" y="3757803"/>
                    <a:pt x="0" y="3735578"/>
                    <a:pt x="0" y="3708146"/>
                  </a:cubicBezTo>
                  <a:close/>
                </a:path>
              </a:pathLst>
            </a:custGeom>
            <a:solidFill>
              <a:srgbClr val="3A3B3C"/>
            </a:solidFill>
          </p:spPr>
        </p:sp>
      </p:grpSp>
      <p:grpSp>
        <p:nvGrpSpPr>
          <p:cNvPr name="Group 14" id="14"/>
          <p:cNvGrpSpPr/>
          <p:nvPr/>
        </p:nvGrpSpPr>
        <p:grpSpPr>
          <a:xfrm rot="0">
            <a:off x="9445676" y="4343552"/>
            <a:ext cx="744141" cy="744141"/>
            <a:chOff x="0" y="0"/>
            <a:chExt cx="992188" cy="992188"/>
          </a:xfrm>
        </p:grpSpPr>
        <p:sp>
          <p:nvSpPr>
            <p:cNvPr name="Freeform 15" id="15" descr="preencoded.png"/>
            <p:cNvSpPr/>
            <p:nvPr/>
          </p:nvSpPr>
          <p:spPr>
            <a:xfrm flipH="false" flipV="false" rot="0">
              <a:off x="0" y="0"/>
              <a:ext cx="992251" cy="992251"/>
            </a:xfrm>
            <a:custGeom>
              <a:avLst/>
              <a:gdLst/>
              <a:ahLst/>
              <a:cxnLst/>
              <a:rect r="r" b="b" t="t" l="l"/>
              <a:pathLst>
                <a:path h="992251" w="992251">
                  <a:moveTo>
                    <a:pt x="0" y="0"/>
                  </a:moveTo>
                  <a:lnTo>
                    <a:pt x="992251" y="0"/>
                  </a:lnTo>
                  <a:lnTo>
                    <a:pt x="992251" y="992251"/>
                  </a:lnTo>
                  <a:lnTo>
                    <a:pt x="0" y="992251"/>
                  </a:lnTo>
                  <a:lnTo>
                    <a:pt x="0" y="0"/>
                  </a:lnTo>
                  <a:close/>
                </a:path>
              </a:pathLst>
            </a:custGeom>
            <a:blipFill>
              <a:blip r:embed="rId7"/>
              <a:stretch>
                <a:fillRect l="0" t="0" r="6" b="6"/>
              </a:stretch>
            </a:blipFill>
          </p:spPr>
        </p:sp>
      </p:grpSp>
      <p:sp>
        <p:nvSpPr>
          <p:cNvPr name="Freeform 16" id="16" descr="preencoded.png"/>
          <p:cNvSpPr/>
          <p:nvPr/>
        </p:nvSpPr>
        <p:spPr>
          <a:xfrm flipH="false" flipV="false" rot="0">
            <a:off x="9650311" y="4548035"/>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7088686" y="5335638"/>
            <a:ext cx="3101130"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مشروعات البنية التحتية</a:t>
            </a:r>
          </a:p>
        </p:txBody>
      </p:sp>
      <p:sp>
        <p:nvSpPr>
          <p:cNvPr name="TextBox 18" id="18"/>
          <p:cNvSpPr txBox="true"/>
          <p:nvPr/>
        </p:nvSpPr>
        <p:spPr>
          <a:xfrm rot="0">
            <a:off x="6086923" y="5786437"/>
            <a:ext cx="4102894"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تطوير العاصمة الإدارية الجديدة، وشبكة الطرق، والأنفاق.</a:t>
            </a:r>
          </a:p>
        </p:txBody>
      </p:sp>
      <p:grpSp>
        <p:nvGrpSpPr>
          <p:cNvPr name="Group 19" id="19"/>
          <p:cNvGrpSpPr/>
          <p:nvPr/>
        </p:nvGrpSpPr>
        <p:grpSpPr>
          <a:xfrm rot="0">
            <a:off x="992238" y="4095598"/>
            <a:ext cx="4598784" cy="2818362"/>
            <a:chOff x="0" y="0"/>
            <a:chExt cx="6131712" cy="3757816"/>
          </a:xfrm>
        </p:grpSpPr>
        <p:sp>
          <p:nvSpPr>
            <p:cNvPr name="Freeform 20" id="20"/>
            <p:cNvSpPr/>
            <p:nvPr/>
          </p:nvSpPr>
          <p:spPr>
            <a:xfrm flipH="false" flipV="false" rot="0">
              <a:off x="0" y="0"/>
              <a:ext cx="6131814" cy="3757803"/>
            </a:xfrm>
            <a:custGeom>
              <a:avLst/>
              <a:gdLst/>
              <a:ahLst/>
              <a:cxnLst/>
              <a:rect r="r" b="b" t="t" l="l"/>
              <a:pathLst>
                <a:path h="3757803" w="6131814">
                  <a:moveTo>
                    <a:pt x="0" y="49657"/>
                  </a:moveTo>
                  <a:cubicBezTo>
                    <a:pt x="0" y="22225"/>
                    <a:pt x="22225" y="0"/>
                    <a:pt x="49657" y="0"/>
                  </a:cubicBezTo>
                  <a:lnTo>
                    <a:pt x="6082157" y="0"/>
                  </a:lnTo>
                  <a:cubicBezTo>
                    <a:pt x="6109589" y="0"/>
                    <a:pt x="6131814" y="22225"/>
                    <a:pt x="6131814" y="49657"/>
                  </a:cubicBezTo>
                  <a:lnTo>
                    <a:pt x="6131814" y="3708146"/>
                  </a:lnTo>
                  <a:cubicBezTo>
                    <a:pt x="6131814" y="3735578"/>
                    <a:pt x="6109589" y="3757803"/>
                    <a:pt x="6082157" y="3757803"/>
                  </a:cubicBezTo>
                  <a:lnTo>
                    <a:pt x="49657" y="3757803"/>
                  </a:lnTo>
                  <a:cubicBezTo>
                    <a:pt x="22225" y="3757803"/>
                    <a:pt x="0" y="3735578"/>
                    <a:pt x="0" y="3708146"/>
                  </a:cubicBezTo>
                  <a:close/>
                </a:path>
              </a:pathLst>
            </a:custGeom>
            <a:solidFill>
              <a:srgbClr val="3A3B3C"/>
            </a:solidFill>
          </p:spPr>
        </p:sp>
      </p:grpSp>
      <p:grpSp>
        <p:nvGrpSpPr>
          <p:cNvPr name="Group 21" id="21"/>
          <p:cNvGrpSpPr/>
          <p:nvPr/>
        </p:nvGrpSpPr>
        <p:grpSpPr>
          <a:xfrm rot="0">
            <a:off x="4598937" y="4343552"/>
            <a:ext cx="744141" cy="744141"/>
            <a:chOff x="0" y="0"/>
            <a:chExt cx="992188" cy="992188"/>
          </a:xfrm>
        </p:grpSpPr>
        <p:sp>
          <p:nvSpPr>
            <p:cNvPr name="Freeform 22" id="22" descr="preencoded.png"/>
            <p:cNvSpPr/>
            <p:nvPr/>
          </p:nvSpPr>
          <p:spPr>
            <a:xfrm flipH="false" flipV="false" rot="0">
              <a:off x="0" y="0"/>
              <a:ext cx="992251" cy="992251"/>
            </a:xfrm>
            <a:custGeom>
              <a:avLst/>
              <a:gdLst/>
              <a:ahLst/>
              <a:cxnLst/>
              <a:rect r="r" b="b" t="t" l="l"/>
              <a:pathLst>
                <a:path h="992251" w="992251">
                  <a:moveTo>
                    <a:pt x="0" y="0"/>
                  </a:moveTo>
                  <a:lnTo>
                    <a:pt x="992251" y="0"/>
                  </a:lnTo>
                  <a:lnTo>
                    <a:pt x="992251" y="992251"/>
                  </a:lnTo>
                  <a:lnTo>
                    <a:pt x="0" y="992251"/>
                  </a:lnTo>
                  <a:lnTo>
                    <a:pt x="0" y="0"/>
                  </a:lnTo>
                  <a:close/>
                </a:path>
              </a:pathLst>
            </a:custGeom>
            <a:blipFill>
              <a:blip r:embed="rId10"/>
              <a:stretch>
                <a:fillRect l="0" t="0" r="6" b="6"/>
              </a:stretch>
            </a:blipFill>
          </p:spPr>
        </p:sp>
      </p:grpSp>
      <p:sp>
        <p:nvSpPr>
          <p:cNvPr name="Freeform 23" id="23" descr="preencoded.png"/>
          <p:cNvSpPr/>
          <p:nvPr/>
        </p:nvSpPr>
        <p:spPr>
          <a:xfrm flipH="false" flipV="false" rot="0">
            <a:off x="4803572" y="4548035"/>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11">
              <a:extLst>
                <a:ext uri="{96DAC541-7B7A-43D3-8B79-37D633B846F1}">
                  <asvg:svgBlip xmlns:asvg="http://schemas.microsoft.com/office/drawing/2016/SVG/main" r:embed="rId12"/>
                </a:ext>
              </a:extLst>
            </a:blip>
            <a:stretch>
              <a:fillRect l="0" t="-8334" r="0" b="-8334"/>
            </a:stretch>
          </a:blipFill>
        </p:spPr>
      </p:sp>
      <p:sp>
        <p:nvSpPr>
          <p:cNvPr name="TextBox 24" id="24"/>
          <p:cNvSpPr txBox="true"/>
          <p:nvPr/>
        </p:nvSpPr>
        <p:spPr>
          <a:xfrm rot="0">
            <a:off x="2241947" y="5335638"/>
            <a:ext cx="3101130"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الاستقرار الأمني</a:t>
            </a:r>
          </a:p>
        </p:txBody>
      </p:sp>
      <p:sp>
        <p:nvSpPr>
          <p:cNvPr name="TextBox 25" id="25"/>
          <p:cNvSpPr txBox="true"/>
          <p:nvPr/>
        </p:nvSpPr>
        <p:spPr>
          <a:xfrm rot="0">
            <a:off x="1240184" y="5786437"/>
            <a:ext cx="4102894" cy="879577"/>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جهود مكثفة لتحقيق الأمن والاستقرار في جميع أنحاء البلاد.</a:t>
            </a:r>
          </a:p>
        </p:txBody>
      </p:sp>
      <p:grpSp>
        <p:nvGrpSpPr>
          <p:cNvPr name="Group 26" id="26"/>
          <p:cNvGrpSpPr/>
          <p:nvPr/>
        </p:nvGrpSpPr>
        <p:grpSpPr>
          <a:xfrm rot="0">
            <a:off x="992238" y="7161905"/>
            <a:ext cx="9445523" cy="2421436"/>
            <a:chOff x="0" y="0"/>
            <a:chExt cx="12594031" cy="3228581"/>
          </a:xfrm>
        </p:grpSpPr>
        <p:sp>
          <p:nvSpPr>
            <p:cNvPr name="Freeform 27" id="27"/>
            <p:cNvSpPr/>
            <p:nvPr/>
          </p:nvSpPr>
          <p:spPr>
            <a:xfrm flipH="false" flipV="false" rot="0">
              <a:off x="0" y="0"/>
              <a:ext cx="12594082" cy="3228594"/>
            </a:xfrm>
            <a:custGeom>
              <a:avLst/>
              <a:gdLst/>
              <a:ahLst/>
              <a:cxnLst/>
              <a:rect r="r" b="b" t="t" l="l"/>
              <a:pathLst>
                <a:path h="3228594" w="12594082">
                  <a:moveTo>
                    <a:pt x="0" y="49657"/>
                  </a:moveTo>
                  <a:cubicBezTo>
                    <a:pt x="0" y="22225"/>
                    <a:pt x="22225" y="0"/>
                    <a:pt x="49657" y="0"/>
                  </a:cubicBezTo>
                  <a:lnTo>
                    <a:pt x="12544425" y="0"/>
                  </a:lnTo>
                  <a:cubicBezTo>
                    <a:pt x="12571857" y="0"/>
                    <a:pt x="12594082" y="22225"/>
                    <a:pt x="12594082" y="49657"/>
                  </a:cubicBezTo>
                  <a:lnTo>
                    <a:pt x="12594082" y="3178937"/>
                  </a:lnTo>
                  <a:cubicBezTo>
                    <a:pt x="12594082" y="3206369"/>
                    <a:pt x="12571857" y="3228594"/>
                    <a:pt x="12544425" y="3228594"/>
                  </a:cubicBezTo>
                  <a:lnTo>
                    <a:pt x="49657" y="3228594"/>
                  </a:lnTo>
                  <a:cubicBezTo>
                    <a:pt x="22225" y="3228594"/>
                    <a:pt x="0" y="3206369"/>
                    <a:pt x="0" y="3178937"/>
                  </a:cubicBezTo>
                  <a:close/>
                </a:path>
              </a:pathLst>
            </a:custGeom>
            <a:solidFill>
              <a:srgbClr val="3A3B3C"/>
            </a:solidFill>
          </p:spPr>
        </p:sp>
      </p:grpSp>
      <p:grpSp>
        <p:nvGrpSpPr>
          <p:cNvPr name="Group 28" id="28"/>
          <p:cNvGrpSpPr/>
          <p:nvPr/>
        </p:nvGrpSpPr>
        <p:grpSpPr>
          <a:xfrm rot="0">
            <a:off x="9445676" y="7409859"/>
            <a:ext cx="744141" cy="744141"/>
            <a:chOff x="0" y="0"/>
            <a:chExt cx="992188" cy="992188"/>
          </a:xfrm>
        </p:grpSpPr>
        <p:sp>
          <p:nvSpPr>
            <p:cNvPr name="Freeform 29" id="29" descr="preencoded.png"/>
            <p:cNvSpPr/>
            <p:nvPr/>
          </p:nvSpPr>
          <p:spPr>
            <a:xfrm flipH="false" flipV="false" rot="0">
              <a:off x="0" y="0"/>
              <a:ext cx="992251" cy="992251"/>
            </a:xfrm>
            <a:custGeom>
              <a:avLst/>
              <a:gdLst/>
              <a:ahLst/>
              <a:cxnLst/>
              <a:rect r="r" b="b" t="t" l="l"/>
              <a:pathLst>
                <a:path h="992251" w="992251">
                  <a:moveTo>
                    <a:pt x="0" y="0"/>
                  </a:moveTo>
                  <a:lnTo>
                    <a:pt x="992251" y="0"/>
                  </a:lnTo>
                  <a:lnTo>
                    <a:pt x="992251" y="992251"/>
                  </a:lnTo>
                  <a:lnTo>
                    <a:pt x="0" y="992251"/>
                  </a:lnTo>
                  <a:lnTo>
                    <a:pt x="0" y="0"/>
                  </a:lnTo>
                  <a:close/>
                </a:path>
              </a:pathLst>
            </a:custGeom>
            <a:blipFill>
              <a:blip r:embed="rId13"/>
              <a:stretch>
                <a:fillRect l="0" t="0" r="6" b="6"/>
              </a:stretch>
            </a:blipFill>
          </p:spPr>
        </p:sp>
      </p:grpSp>
      <p:sp>
        <p:nvSpPr>
          <p:cNvPr name="Freeform 30" id="30" descr="preencoded.png"/>
          <p:cNvSpPr/>
          <p:nvPr/>
        </p:nvSpPr>
        <p:spPr>
          <a:xfrm flipH="false" flipV="false" rot="0">
            <a:off x="9650311" y="7614342"/>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14">
              <a:extLst>
                <a:ext uri="{96DAC541-7B7A-43D3-8B79-37D633B846F1}">
                  <asvg:svgBlip xmlns:asvg="http://schemas.microsoft.com/office/drawing/2016/SVG/main" r:embed="rId15"/>
                </a:ext>
              </a:extLst>
            </a:blip>
            <a:stretch>
              <a:fillRect l="-4167" t="0" r="-4167" b="0"/>
            </a:stretch>
          </a:blipFill>
        </p:spPr>
      </p:sp>
      <p:sp>
        <p:nvSpPr>
          <p:cNvPr name="TextBox 31" id="31"/>
          <p:cNvSpPr txBox="true"/>
          <p:nvPr/>
        </p:nvSpPr>
        <p:spPr>
          <a:xfrm rot="0">
            <a:off x="7088686" y="8401945"/>
            <a:ext cx="3101130" cy="387696"/>
          </a:xfrm>
          <a:prstGeom prst="rect">
            <a:avLst/>
          </a:prstGeom>
        </p:spPr>
        <p:txBody>
          <a:bodyPr anchor="t" rtlCol="false" tIns="0" lIns="0" bIns="0" rIns="0">
            <a:spAutoFit/>
          </a:bodyPr>
          <a:lstStyle/>
          <a:p>
            <a:pPr algn="r" rtl="true">
              <a:lnSpc>
                <a:spcPts val="2999"/>
              </a:lnSpc>
            </a:pPr>
            <a:r>
              <a:rPr lang="ar-EG" sz="2437">
                <a:solidFill>
                  <a:srgbClr val="CFCBBF"/>
                </a:solidFill>
                <a:latin typeface="Prata"/>
                <a:ea typeface="Prata"/>
                <a:cs typeface="Prata"/>
                <a:sym typeface="Prata"/>
                <a:rtl val="true"/>
              </a:rPr>
              <a:t>الإصلاح الاقتصادي</a:t>
            </a:r>
          </a:p>
        </p:txBody>
      </p:sp>
      <p:sp>
        <p:nvSpPr>
          <p:cNvPr name="TextBox 32" id="32"/>
          <p:cNvSpPr txBox="true"/>
          <p:nvPr/>
        </p:nvSpPr>
        <p:spPr>
          <a:xfrm rot="0">
            <a:off x="1240184" y="8852745"/>
            <a:ext cx="8949633" cy="482651"/>
          </a:xfrm>
          <a:prstGeom prst="rect">
            <a:avLst/>
          </a:prstGeom>
        </p:spPr>
        <p:txBody>
          <a:bodyPr anchor="t" rtlCol="false" tIns="0" lIns="0" bIns="0" rIns="0">
            <a:spAutoFit/>
          </a:bodyPr>
          <a:lstStyle/>
          <a:p>
            <a:pPr algn="r" rtl="true">
              <a:lnSpc>
                <a:spcPts val="3125"/>
              </a:lnSpc>
            </a:pPr>
            <a:r>
              <a:rPr lang="ar-EG" sz="1937">
                <a:solidFill>
                  <a:srgbClr val="CFCBBF"/>
                </a:solidFill>
                <a:latin typeface="Raleway"/>
                <a:ea typeface="Raleway"/>
                <a:cs typeface="Raleway"/>
                <a:sym typeface="Raleway"/>
                <a:rtl val="true"/>
              </a:rPr>
              <a:t>برامج إصلاح اقتصادي شاملة لتحقيق التنمية والرخاء.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DAHCu4NMyy8</dc:identifier>
  <dcterms:modified xsi:type="dcterms:W3CDTF">2011-08-01T06:04:30Z</dcterms:modified>
  <cp:revision>1</cp:revision>
  <dc:title>عصور مصر </dc:title>
</cp:coreProperties>
</file>